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572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C6172"/>
                </a:solidFill>
                <a:latin typeface="Courier New"/>
              </a:rPr>
              <a:t>FADE IN: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914400"/>
            <a:ext cx="2665476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914400"/>
            <a:ext cx="266547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INT. YOUR DESK — LATE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6002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000" b="1" i="0">
                <a:solidFill>
                  <a:srgbClr val="2A2230"/>
                </a:solidFill>
                <a:latin typeface="Georgia"/>
              </a:rPr>
              <a:t>Hi, Mara.
I'm Mentible.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3566160"/>
            <a:ext cx="6702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6B4880"/>
                </a:solidFill>
                <a:latin typeface="Courier New"/>
              </a:rPr>
              <a:t>MENTIBLE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3931920"/>
            <a:ext cx="6702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1">
                <a:solidFill>
                  <a:srgbClr val="6C6172"/>
                </a:solidFill>
                <a:latin typeface="Courier New"/>
              </a:rPr>
              <a:t>(quietly, already 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4251959"/>
            <a:ext cx="57881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A2230"/>
                </a:solidFill>
                <a:latin typeface="Courier New"/>
              </a:rPr>
              <a:t>Your research, your bible, the notes you trust — I'll write from them, and never break your canon.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" y="5349240"/>
            <a:ext cx="6858000" cy="18288"/>
          </a:xfrm>
          <a:prstGeom prst="rect">
            <a:avLst/>
          </a:prstGeom>
          <a:solidFill>
            <a:srgbClr val="DDD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5486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C6172"/>
                </a:solidFill>
                <a:latin typeface="Courier New"/>
              </a:rPr>
              <a:t>TALKING 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5760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Mara</a:t>
            </a:r>
            <a:r>
              <a:rPr sz="1200" b="0" i="0">
                <a:solidFill>
                  <a:srgbClr val="6C6172"/>
                </a:solidFill>
                <a:latin typeface="Georgia"/>
              </a:rPr>
              <a:t>  · feature screenwriter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6291072"/>
            <a:ext cx="10424160" cy="457200"/>
          </a:xfrm>
          <a:prstGeom prst="roundRect">
            <a:avLst>
              <a:gd name="adj" fmla="val 30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7280" y="629107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B4880"/>
                </a:solidFill>
                <a:latin typeface="Courier New"/>
              </a:rPr>
              <a:t>◆ PRODUCT VISION — </a:t>
            </a:r>
            <a:r>
              <a:rPr sz="1000" b="0" i="0">
                <a:solidFill>
                  <a:srgbClr val="2A2230"/>
                </a:solidFill>
                <a:latin typeface="Georgia"/>
              </a:rPr>
              <a:t>a preview of where Mentible is headed. The grounded AI and private hosted sync shown here are on the roadmap, not yet shipped.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548640"/>
            <a:ext cx="2455164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48640"/>
            <a:ext cx="24551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1 — THE PROBLEM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11887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Your world lives in a hundred files, and generic AI breaks your canon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2468880"/>
            <a:ext cx="27432" cy="1792224"/>
          </a:xfrm>
          <a:prstGeom prst="rect">
            <a:avLst/>
          </a:prstGeom>
          <a:solidFill>
            <a:srgbClr val="D3C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514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A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Your world is scattered.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Research docs, a series bible, character notes, location refs — across folders and notebooks.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308152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B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Continuity is brutal.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One detail wrong and the world cracks. Holding it all in your head doesn't scale.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364845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C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The generic chatbots?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They invent facts, forget your canon — and you'd feed unreleased story into someone else's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717035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71703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2 — EXT. YOUR DEVICE — FREE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No sign-up. Start on your own device.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1874519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6C6172"/>
                </a:solidFill>
                <a:latin typeface="Georgia"/>
              </a:rPr>
              <a:t>Install me, point me at your research and bible, and we start — your library stays on your own device.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1" y="2697480"/>
            <a:ext cx="3383280" cy="1783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6111" y="292608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TAKE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" y="32461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Open me 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6C6172"/>
                </a:solidFill>
                <a:latin typeface="Georgia"/>
              </a:rPr>
              <a:t>Free to start. No account, works offline.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89120" y="2697480"/>
            <a:ext cx="3383280" cy="1783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40" y="292608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TAKE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32461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Hand me your 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6C6172"/>
                </a:solidFill>
                <a:latin typeface="Georgia"/>
              </a:rPr>
              <a:t>Research, bible, character &amp; location notes — they become your knowledge library.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56448" y="2697480"/>
            <a:ext cx="3383280" cy="1783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292608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TAKE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32461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A2230"/>
                </a:solidFill>
                <a:latin typeface="Georgia"/>
              </a:rPr>
              <a:t>Ask, or hand me a scene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30768" y="365760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6C6172"/>
                </a:solidFill>
                <a:latin typeface="Georgia"/>
              </a:rPr>
              <a:t>I draft and answer from your own canon.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48463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5822E"/>
                </a:solidFill>
                <a:latin typeface="Courier New"/>
              </a:rPr>
              <a:t>// Free tier: your world is stored on your device. When you ask me to draft, the relevant notes are sent to the AI model to write — so choose what you share.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086100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0861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3 — THE WRITERS' 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178308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6C6172"/>
                </a:solidFill>
                <a:latin typeface="Georgia"/>
              </a:rPr>
              <a:t>Not my memory — </a:t>
            </a:r>
            <a:r>
              <a:rPr sz="1300" b="1" i="1">
                <a:solidFill>
                  <a:srgbClr val="2A2230"/>
                </a:solidFill>
                <a:latin typeface="Georgia"/>
              </a:rPr>
              <a:t>yours</a:t>
            </a:r>
            <a:r>
              <a:rPr sz="1300" b="0" i="0">
                <a:solidFill>
                  <a:srgbClr val="6C6172"/>
                </a:solidFill>
                <a:latin typeface="Georgia"/>
              </a:rPr>
              <a:t>. Your world, bible, and notes — one canon I've read cover to cover and keep straight. Think of it as your board: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63040" y="2514600"/>
            <a:ext cx="9235440" cy="2514600"/>
          </a:xfrm>
          <a:prstGeom prst="roundRect">
            <a:avLst>
              <a:gd name="adj" fmla="val 3000"/>
            </a:avLst>
          </a:prstGeom>
          <a:solidFill>
            <a:srgbClr val="C39A63"/>
          </a:solidFill>
          <a:ln w="63500">
            <a:solidFill>
              <a:srgbClr val="7A5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04871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360000">
            <a:off x="1682495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1360000">
            <a:off x="1682495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 rot="21360000">
            <a:off x="1755647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Series bible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the rules of your world</a:t>
            </a:r>
          </a:p>
        </p:txBody>
      </p:sp>
      <p:sp>
        <p:nvSpPr>
          <p:cNvPr id="48" name="Oval 47"/>
          <p:cNvSpPr/>
          <p:nvPr/>
        </p:nvSpPr>
        <p:spPr>
          <a:xfrm>
            <a:off x="4215383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180000">
            <a:off x="3493007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180000">
            <a:off x="3493007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3566159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World research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period &amp; place</a:t>
            </a:r>
          </a:p>
        </p:txBody>
      </p:sp>
      <p:sp>
        <p:nvSpPr>
          <p:cNvPr id="52" name="Oval 51"/>
          <p:cNvSpPr/>
          <p:nvPr/>
        </p:nvSpPr>
        <p:spPr>
          <a:xfrm>
            <a:off x="6025895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 rot="21480000">
            <a:off x="5303519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1480000">
            <a:off x="5303519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 rot="21480000">
            <a:off x="5376671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Character notes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who they are</a:t>
            </a:r>
          </a:p>
        </p:txBody>
      </p:sp>
      <p:sp>
        <p:nvSpPr>
          <p:cNvPr id="56" name="Oval 55"/>
          <p:cNvSpPr/>
          <p:nvPr/>
        </p:nvSpPr>
        <p:spPr>
          <a:xfrm>
            <a:off x="7836407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210000">
            <a:off x="7114031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210000">
            <a:off x="7114031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 rot="210000">
            <a:off x="7187183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Location refs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where it happens</a:t>
            </a:r>
          </a:p>
        </p:txBody>
      </p:sp>
      <p:sp>
        <p:nvSpPr>
          <p:cNvPr id="60" name="Oval 59"/>
          <p:cNvSpPr/>
          <p:nvPr/>
        </p:nvSpPr>
        <p:spPr>
          <a:xfrm>
            <a:off x="9646919" y="2871215"/>
            <a:ext cx="146304" cy="146304"/>
          </a:xfrm>
          <a:prstGeom prst="ellipse">
            <a:avLst/>
          </a:prstGeom>
          <a:solidFill>
            <a:srgbClr val="B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21420000">
            <a:off x="8924544" y="3017520"/>
            <a:ext cx="1554480" cy="1417320"/>
          </a:xfrm>
          <a:prstGeom prst="rect">
            <a:avLst/>
          </a:prstGeom>
          <a:solidFill>
            <a:srgbClr val="FCF7EC"/>
          </a:solidFill>
          <a:ln w="12700">
            <a:solidFill>
              <a:srgbClr val="F0E4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21420000">
            <a:off x="8924544" y="3017520"/>
            <a:ext cx="1554480" cy="256032"/>
          </a:xfrm>
          <a:prstGeom prst="rect">
            <a:avLst/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 rot="21420000">
            <a:off x="8997696" y="3401568"/>
            <a:ext cx="140817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A2230"/>
                </a:solidFill>
                <a:latin typeface="Calibri"/>
              </a:rPr>
              <a:t>Timeline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850" b="0" i="0">
                <a:solidFill>
                  <a:srgbClr val="6C6172"/>
                </a:solidFill>
                <a:latin typeface="Calibri"/>
              </a:rPr>
              <a:t>what happens when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52578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1">
                <a:solidFill>
                  <a:srgbClr val="6C6172"/>
                </a:solidFill>
                <a:latin typeface="Georgia"/>
              </a:rPr>
              <a:t>Every card here, you pinned. That's the point — I keep your canon, not a made-up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296412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29641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4 — HOW I ACTUALLY 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A2230"/>
                </a:solidFill>
                <a:latin typeface="Georgia"/>
              </a:rPr>
              <a:t>I read your bible first — then I write, true to your canon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20574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6C6172"/>
                </a:solidFill>
                <a:latin typeface="Georgia"/>
              </a:rPr>
              <a:t>Ask me a question or hand me a scene. I don't invent: I </a:t>
            </a:r>
            <a:r>
              <a:rPr sz="1250" b="1" i="0">
                <a:solidFill>
                  <a:srgbClr val="2A2230"/>
                </a:solidFill>
                <a:latin typeface="Georgia"/>
              </a:rPr>
              <a:t>find the relevant details in your bible first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, then write consistent with them — and show which notes I drew 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2788920"/>
            <a:ext cx="27432" cy="1792224"/>
          </a:xfrm>
          <a:prstGeom prst="rect">
            <a:avLst/>
          </a:prstGeom>
          <a:solidFill>
            <a:srgbClr val="D3C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2834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›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YOU: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“Draft a scene brief for the 1922 airfield — keep it true to the bible.”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40156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›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ME (retrieving):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I pull the exact details from your world research &amp; character notes.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396849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A85D4E"/>
                </a:solidFill>
                <a:latin typeface="Courier New"/>
              </a:rPr>
              <a:t>›  </a:t>
            </a:r>
            <a:r>
              <a:rPr sz="1350" b="1" i="0">
                <a:solidFill>
                  <a:srgbClr val="2A2230"/>
                </a:solidFill>
                <a:latin typeface="Georgia"/>
              </a:rPr>
              <a:t>ME (writing):  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A brief consistent with your world, citing your own notes — no continuity breaks.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77440" y="4754880"/>
            <a:ext cx="7434072" cy="1051560"/>
          </a:xfrm>
          <a:prstGeom prst="roundRect">
            <a:avLst>
              <a:gd name="adj" fmla="val 10000"/>
            </a:avLst>
          </a:prstGeom>
          <a:solidFill>
            <a:srgbClr val="FBF6EC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0" y="4892040"/>
            <a:ext cx="6702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6B4880"/>
                </a:solidFill>
                <a:latin typeface="Courier New"/>
              </a:rPr>
              <a:t>MENTIBLE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57800"/>
            <a:ext cx="57881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A2230"/>
                </a:solidFill>
                <a:latin typeface="Courier New"/>
              </a:rPr>
              <a:t>Think of me as the story editor who's memorized your bible — and never contradicts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927348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9273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5 — BIGGER THAN YOUR RESEARCH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A2230"/>
                </a:solidFill>
                <a:latin typeface="Georgia"/>
              </a:rPr>
              <a:t>Your knowledge library can outgrow your own files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17830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6C6172"/>
                </a:solidFill>
                <a:latin typeface="Georgia"/>
              </a:rPr>
              <a:t>You're not limited to what you've gathered. I can pull public-domain period texts and reference works into your knowledge library from </a:t>
            </a:r>
            <a:r>
              <a:rPr sz="1250" b="1" i="0">
                <a:solidFill>
                  <a:srgbClr val="2A2230"/>
                </a:solidFill>
                <a:latin typeface="Georgia"/>
              </a:rPr>
              <a:t>curated catalogs</a:t>
            </a:r>
            <a:r>
              <a:rPr sz="1250" b="0" i="0">
                <a:solidFill>
                  <a:srgbClr val="6C6172"/>
                </a:solidFill>
                <a:latin typeface="Georgia"/>
              </a:rPr>
              <a:t> — then ground every answer in your world.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80160" y="274320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54480" y="2971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A2230"/>
                </a:solidFill>
                <a:latin typeface="Georgia"/>
              </a:rPr>
              <a:t>What you bring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54480" y="34290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54480" y="342900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series bible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63240" y="3429000"/>
            <a:ext cx="100584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63240" y="3429000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research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06240" y="3429000"/>
            <a:ext cx="73152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6240" y="3429000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notes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0" y="2743200"/>
            <a:ext cx="9144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6C6172"/>
                </a:solidFill>
                <a:latin typeface="Courier New"/>
              </a:rPr>
              <a:t>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20840" y="274320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5159" y="2971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A2230"/>
                </a:solidFill>
                <a:latin typeface="Georgia"/>
              </a:rPr>
              <a:t>What I pull in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95159" y="342900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95159" y="342900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period texts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503919" y="342900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F4EDE0"/>
          </a:solidFill>
          <a:ln w="12700">
            <a:solidFill>
              <a:srgbClr val="DDD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19" y="342900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A2230"/>
                </a:solidFill>
                <a:latin typeface="Courier New"/>
              </a:rPr>
              <a:t>curated catalogs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560320" y="4709160"/>
            <a:ext cx="7040880" cy="822960"/>
          </a:xfrm>
          <a:prstGeom prst="roundRect">
            <a:avLst>
              <a:gd name="adj" fmla="val 20000"/>
            </a:avLst>
          </a:prstGeom>
          <a:solidFill>
            <a:srgbClr val="EDE4F1"/>
          </a:solidFill>
          <a:ln w="15875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0" y="4709160"/>
            <a:ext cx="6675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6B4880"/>
                </a:solidFill>
                <a:latin typeface="Georgia"/>
              </a:rPr>
              <a:t>= one knowledge library 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richer than your own files, still your canon, still private.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1E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4630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6032" y="54864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" y="95097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" y="135331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032" y="175564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" y="215798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" y="256032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6032" y="296265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6032" y="3364991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6032" y="376732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6032" y="416966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" y="457200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6032" y="4974336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" y="5376672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6032" y="5779008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" y="6181344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296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6032" y="6583680"/>
            <a:ext cx="45720" cy="12801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720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6C6172"/>
                </a:solidFill>
                <a:latin typeface="Courier New"/>
              </a:rPr>
              <a:t>CUT TO: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8680" y="548640"/>
            <a:ext cx="3086100" cy="402336"/>
          </a:xfrm>
          <a:prstGeom prst="roundRect">
            <a:avLst>
              <a:gd name="adj" fmla="val 18000"/>
            </a:avLst>
          </a:prstGeom>
          <a:solidFill>
            <a:srgbClr val="EDE4F1"/>
          </a:solidFill>
          <a:ln w="12700">
            <a:solidFill>
              <a:srgbClr val="D3C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48640"/>
            <a:ext cx="30861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6B4880"/>
                </a:solidFill>
                <a:latin typeface="Courier New"/>
              </a:rPr>
              <a:t>SC. 6 — WHEN YOU'RE READY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11887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A2230"/>
                </a:solidFill>
                <a:latin typeface="Georgia"/>
              </a:rPr>
              <a:t>Take the whole world with you — desk, café, writers' room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2103120"/>
            <a:ext cx="10424160" cy="292608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587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4440" y="2377440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urier New"/>
              </a:rPr>
              <a:t>★ FEATURE UPGRADE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4440" y="274320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2A2230"/>
                </a:solidFill>
                <a:latin typeface="Georgia"/>
              </a:rPr>
              <a:t>One day you'll want your world not just on your desk, but on your laptop at the café and your phone in the room. That's when you'll upgrade me.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365760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 </a:t>
            </a:r>
            <a:r>
              <a:rPr sz="1300" b="1" i="0">
                <a:solidFill>
                  <a:srgbClr val="2A2230"/>
                </a:solidFill>
                <a:latin typeface="Georgia"/>
              </a:rPr>
              <a:t>One private library, every device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I carry your whole world and its search across your devices, in sync.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4078224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 </a:t>
            </a:r>
            <a:r>
              <a:rPr sz="1300" b="1" i="0">
                <a:solidFill>
                  <a:srgbClr val="2A2230"/>
                </a:solidFill>
                <a:latin typeface="Georgia"/>
              </a:rPr>
              <a:t>Write anywhere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your canon and research, wherever the idea strikes.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498848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 </a:t>
            </a:r>
            <a:r>
              <a:rPr sz="1300" b="1" i="0">
                <a:solidFill>
                  <a:srgbClr val="2A2230"/>
                </a:solidFill>
                <a:latin typeface="Georgia"/>
              </a:rPr>
              <a:t>Your IP stays yours </a:t>
            </a:r>
            <a:r>
              <a:rPr sz="1250" b="0" i="0">
                <a:solidFill>
                  <a:srgbClr val="2A2230"/>
                </a:solidFill>
                <a:latin typeface="Georgia"/>
              </a:rPr>
              <a:t>— private, encrypted, never shared, never used to train anyone's model.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4937760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1">
                <a:solidFill>
                  <a:srgbClr val="B5822E"/>
                </a:solidFill>
                <a:latin typeface="Courier New"/>
              </a:rPr>
              <a:t>The honest version: </a:t>
            </a:r>
            <a:r>
              <a:rPr sz="1050" b="0" i="1">
                <a:solidFill>
                  <a:srgbClr val="6C6172"/>
                </a:solidFill>
                <a:latin typeface="Georgia"/>
              </a:rPr>
              <a:t>drafting sends your notes to a third-party AI model; the hosted tier isn't zero-knowledge; and prose you don't substantially rewrite may not be copyrightable — check your WGA/studio terms.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4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103120"/>
            <a:ext cx="8531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EDE4F1"/>
                </a:solidFill>
                <a:latin typeface="Courier New"/>
              </a:rPr>
              <a:t>MENTIBLE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14600"/>
            <a:ext cx="85313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1">
                <a:solidFill>
                  <a:srgbClr val="D3C1DE"/>
                </a:solidFill>
                <a:latin typeface="Courier New"/>
              </a:rPr>
              <a:t>(my promise to you)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063240"/>
            <a:ext cx="81655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Give me the world you've already built, and I'll keep it consistent — scene after scene, draft after draft — while your unreleased IP stays yours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852160"/>
            <a:ext cx="8531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D3C1DE"/>
                </a:solidFill>
                <a:latin typeface="Courier New"/>
              </a:rPr>
              <a:t>FADE 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