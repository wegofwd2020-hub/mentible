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E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" y="14630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6032" y="14630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" y="54864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54864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" y="95097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6032" y="95097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" y="135331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6032" y="135331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" y="175564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6032" y="175564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" y="215798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6032" y="215798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" y="256032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6032" y="256032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" y="296265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6032" y="296265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" y="3364991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6032" y="3364991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" y="376732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56032" y="376732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" y="416966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6032" y="416966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" y="457200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6032" y="457200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" y="497433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56032" y="497433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" y="537667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56032" y="537667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" y="577900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56032" y="577900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" y="618134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56032" y="618134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" y="658368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56032" y="658368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572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C6172"/>
                </a:solidFill>
                <a:latin typeface="Courier New"/>
              </a:rPr>
              <a:t>FADE IN: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" y="914400"/>
            <a:ext cx="2665476" cy="402336"/>
          </a:xfrm>
          <a:prstGeom prst="roundRect">
            <a:avLst>
              <a:gd name="adj" fmla="val 18000"/>
            </a:avLst>
          </a:prstGeom>
          <a:solidFill>
            <a:srgbClr val="EDE4F1"/>
          </a:solidFill>
          <a:ln w="12700">
            <a:solidFill>
              <a:srgbClr val="D3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914400"/>
            <a:ext cx="266547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6B4880"/>
                </a:solidFill>
                <a:latin typeface="Courier New"/>
              </a:rPr>
              <a:t>INT. YOUR DESK — LATE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16002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2A2230"/>
                </a:solidFill>
                <a:latin typeface="Georgia"/>
              </a:rPr>
              <a:t>Hi, Mara.
I'm Mentible.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3566160"/>
            <a:ext cx="6702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6B4880"/>
                </a:solidFill>
                <a:latin typeface="Courier New"/>
              </a:rPr>
              <a:t>MENTIBLE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3931920"/>
            <a:ext cx="6702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1">
                <a:solidFill>
                  <a:srgbClr val="6C6172"/>
                </a:solidFill>
                <a:latin typeface="Courier New"/>
              </a:rPr>
              <a:t>(quietly, already reading)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4251959"/>
            <a:ext cx="57881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A2230"/>
                </a:solidFill>
                <a:latin typeface="Courier New"/>
              </a:rPr>
              <a:t>Your research, your bible, the notes you trust — I'll write from them, and never break your canon.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8680" y="5349240"/>
            <a:ext cx="6858000" cy="18288"/>
          </a:xfrm>
          <a:prstGeom prst="rect">
            <a:avLst/>
          </a:prstGeom>
          <a:solidFill>
            <a:srgbClr val="DDD2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54864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C6172"/>
                </a:solidFill>
                <a:latin typeface="Courier New"/>
              </a:rPr>
              <a:t>TALKING 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57607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A2230"/>
                </a:solidFill>
                <a:latin typeface="Georgia"/>
              </a:rPr>
              <a:t>Mara</a:t>
            </a:r>
            <a:r>
              <a:rPr sz="1200" b="0" i="0">
                <a:solidFill>
                  <a:srgbClr val="6C6172"/>
                </a:solidFill>
                <a:latin typeface="Georgia"/>
              </a:rPr>
              <a:t>  · feature screenwriter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E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" y="14630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6032" y="14630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" y="54864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54864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" y="95097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6032" y="95097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" y="135331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6032" y="135331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" y="175564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6032" y="175564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" y="215798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6032" y="215798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" y="256032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6032" y="256032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" y="296265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6032" y="296265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" y="3364991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6032" y="3364991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" y="376732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56032" y="376732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" y="416966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6032" y="416966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" y="457200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6032" y="457200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" y="497433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56032" y="497433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" y="537667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56032" y="537667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" y="577900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56032" y="577900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" y="618134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56032" y="618134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" y="658368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56032" y="658368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68680" y="548640"/>
            <a:ext cx="2455164" cy="402336"/>
          </a:xfrm>
          <a:prstGeom prst="roundRect">
            <a:avLst>
              <a:gd name="adj" fmla="val 18000"/>
            </a:avLst>
          </a:prstGeom>
          <a:solidFill>
            <a:srgbClr val="EDE4F1"/>
          </a:solidFill>
          <a:ln w="12700">
            <a:solidFill>
              <a:srgbClr val="D3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48640"/>
            <a:ext cx="245516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6B4880"/>
                </a:solidFill>
                <a:latin typeface="Courier New"/>
              </a:rPr>
              <a:t>SC. 1 — THE PROBLEM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11887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2A2230"/>
                </a:solidFill>
                <a:latin typeface="Georgia"/>
              </a:rPr>
              <a:t>Your world lives in a hundred files, and generic AI breaks your canon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2468880"/>
            <a:ext cx="27432" cy="1792224"/>
          </a:xfrm>
          <a:prstGeom prst="rect">
            <a:avLst/>
          </a:prstGeom>
          <a:solidFill>
            <a:srgbClr val="D3C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5146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A85D4E"/>
                </a:solidFill>
                <a:latin typeface="Courier New"/>
              </a:rPr>
              <a:t>A  </a:t>
            </a:r>
            <a:r>
              <a:rPr sz="1350" b="1" i="0">
                <a:solidFill>
                  <a:srgbClr val="2A2230"/>
                </a:solidFill>
                <a:latin typeface="Georgia"/>
              </a:rPr>
              <a:t>Your world is scattered.  </a:t>
            </a:r>
            <a:r>
              <a:rPr sz="1250" b="0" i="0">
                <a:solidFill>
                  <a:srgbClr val="6C6172"/>
                </a:solidFill>
                <a:latin typeface="Georgia"/>
              </a:rPr>
              <a:t>Research docs, a series bible, character notes, location refs — across folders and notebooks.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308152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A85D4E"/>
                </a:solidFill>
                <a:latin typeface="Courier New"/>
              </a:rPr>
              <a:t>B  </a:t>
            </a:r>
            <a:r>
              <a:rPr sz="1350" b="1" i="0">
                <a:solidFill>
                  <a:srgbClr val="2A2230"/>
                </a:solidFill>
                <a:latin typeface="Georgia"/>
              </a:rPr>
              <a:t>Continuity is brutal.  </a:t>
            </a:r>
            <a:r>
              <a:rPr sz="1250" b="0" i="0">
                <a:solidFill>
                  <a:srgbClr val="6C6172"/>
                </a:solidFill>
                <a:latin typeface="Georgia"/>
              </a:rPr>
              <a:t>One detail wrong and the world cracks. Holding it all in your head doesn't scale.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3648456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A85D4E"/>
                </a:solidFill>
                <a:latin typeface="Courier New"/>
              </a:rPr>
              <a:t>C  </a:t>
            </a:r>
            <a:r>
              <a:rPr sz="1350" b="1" i="0">
                <a:solidFill>
                  <a:srgbClr val="2A2230"/>
                </a:solidFill>
                <a:latin typeface="Georgia"/>
              </a:rPr>
              <a:t>The generic chatbots?  </a:t>
            </a:r>
            <a:r>
              <a:rPr sz="1250" b="0" i="0">
                <a:solidFill>
                  <a:srgbClr val="6C6172"/>
                </a:solidFill>
                <a:latin typeface="Georgia"/>
              </a:rPr>
              <a:t>They invent facts, forget your canon — and you'd feed unreleased story into someone else's cloud.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E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" y="14630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6032" y="14630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" y="54864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54864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" y="95097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6032" y="95097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" y="135331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6032" y="135331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" y="175564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6032" y="175564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" y="215798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6032" y="215798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" y="256032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6032" y="256032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" y="296265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6032" y="296265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" y="3364991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6032" y="3364991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" y="376732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56032" y="376732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" y="416966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6032" y="416966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" y="457200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6032" y="457200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" y="497433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56032" y="497433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" y="537667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56032" y="537667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" y="577900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56032" y="577900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" y="618134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56032" y="618134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" y="658368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56032" y="658368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45720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6C6172"/>
                </a:solidFill>
                <a:latin typeface="Courier New"/>
              </a:rPr>
              <a:t>CUT TO: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" y="548640"/>
            <a:ext cx="3717035" cy="402336"/>
          </a:xfrm>
          <a:prstGeom prst="roundRect">
            <a:avLst>
              <a:gd name="adj" fmla="val 18000"/>
            </a:avLst>
          </a:prstGeom>
          <a:solidFill>
            <a:srgbClr val="EDE4F1"/>
          </a:solidFill>
          <a:ln w="12700">
            <a:solidFill>
              <a:srgbClr val="D3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48640"/>
            <a:ext cx="3717035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6B4880"/>
                </a:solidFill>
                <a:latin typeface="Courier New"/>
              </a:rPr>
              <a:t>SC. 2 — EXT. YOUR DEVICE — FREE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118872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A2230"/>
                </a:solidFill>
                <a:latin typeface="Georgia"/>
              </a:rPr>
              <a:t>No sign-up. Nothing leaves your laptop.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1874519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C6172"/>
                </a:solidFill>
                <a:latin typeface="Georgia"/>
              </a:rPr>
              <a:t>Install me, point me at your research and bible, and we start — everything stays on your own device.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1" y="2697480"/>
            <a:ext cx="3383280" cy="1783080"/>
          </a:xfrm>
          <a:prstGeom prst="roundRect">
            <a:avLst>
              <a:gd name="adj" fmla="val 4000"/>
            </a:avLst>
          </a:prstGeom>
          <a:solidFill>
            <a:srgbClr val="FBF6EC"/>
          </a:solidFill>
          <a:ln w="12700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1" y="292608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5822E"/>
                </a:solidFill>
                <a:latin typeface="Courier New"/>
              </a:rPr>
              <a:t>TAKE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1" y="32461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A2230"/>
                </a:solidFill>
                <a:latin typeface="Georgia"/>
              </a:rPr>
              <a:t>Open me up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1" y="365760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C6172"/>
                </a:solidFill>
                <a:latin typeface="Georgia"/>
              </a:rPr>
              <a:t>Free to start. No account, works offline.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89120" y="2697480"/>
            <a:ext cx="3383280" cy="1783080"/>
          </a:xfrm>
          <a:prstGeom prst="roundRect">
            <a:avLst>
              <a:gd name="adj" fmla="val 4000"/>
            </a:avLst>
          </a:prstGeom>
          <a:solidFill>
            <a:srgbClr val="FBF6EC"/>
          </a:solidFill>
          <a:ln w="12700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63440" y="292608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5822E"/>
                </a:solidFill>
                <a:latin typeface="Courier New"/>
              </a:rPr>
              <a:t>TAKE 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32461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A2230"/>
                </a:solidFill>
                <a:latin typeface="Georgia"/>
              </a:rPr>
              <a:t>Hand me your world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365760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C6172"/>
                </a:solidFill>
                <a:latin typeface="Georgia"/>
              </a:rPr>
              <a:t>Research, bible, character &amp; location notes — they become your knowledge library.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56448" y="2697480"/>
            <a:ext cx="3383280" cy="1783080"/>
          </a:xfrm>
          <a:prstGeom prst="roundRect">
            <a:avLst>
              <a:gd name="adj" fmla="val 4000"/>
            </a:avLst>
          </a:prstGeom>
          <a:solidFill>
            <a:srgbClr val="FBF6EC"/>
          </a:solidFill>
          <a:ln w="12700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30768" y="292608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5822E"/>
                </a:solidFill>
                <a:latin typeface="Courier New"/>
              </a:rPr>
              <a:t>TAKE 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30768" y="32461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A2230"/>
                </a:solidFill>
                <a:latin typeface="Georgia"/>
              </a:rPr>
              <a:t>Ask, or hand me a scene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30768" y="365760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C6172"/>
                </a:solidFill>
                <a:latin typeface="Georgia"/>
              </a:rPr>
              <a:t>I draft and answer from your own canon.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484632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5822E"/>
                </a:solidFill>
                <a:latin typeface="Courier New"/>
              </a:rPr>
              <a:t>// On the free tier I live entirely on your device. Your unreleased work never leaves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E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" y="14630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6032" y="14630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" y="54864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54864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" y="95097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6032" y="95097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" y="135331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6032" y="135331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" y="175564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6032" y="175564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" y="215798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6032" y="215798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" y="256032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6032" y="256032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" y="296265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6032" y="296265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" y="3364991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6032" y="3364991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" y="376732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56032" y="376732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" y="416966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6032" y="416966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" y="457200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6032" y="457200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" y="497433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56032" y="497433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" y="537667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56032" y="537667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" y="577900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56032" y="577900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" y="618134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56032" y="618134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" y="658368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56032" y="658368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45720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6C6172"/>
                </a:solidFill>
                <a:latin typeface="Courier New"/>
              </a:rPr>
              <a:t>CUT TO: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" y="548640"/>
            <a:ext cx="3086100" cy="402336"/>
          </a:xfrm>
          <a:prstGeom prst="roundRect">
            <a:avLst>
              <a:gd name="adj" fmla="val 18000"/>
            </a:avLst>
          </a:prstGeom>
          <a:solidFill>
            <a:srgbClr val="EDE4F1"/>
          </a:solidFill>
          <a:ln w="12700">
            <a:solidFill>
              <a:srgbClr val="D3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48640"/>
            <a:ext cx="30861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6B4880"/>
                </a:solidFill>
                <a:latin typeface="Courier New"/>
              </a:rPr>
              <a:t>SC. 3 — THE WRITERS' ROOM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118872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A2230"/>
                </a:solidFill>
                <a:latin typeface="Georgia"/>
              </a:rPr>
              <a:t>This becomes your knowledge library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1783080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6C6172"/>
                </a:solidFill>
                <a:latin typeface="Georgia"/>
              </a:rPr>
              <a:t>Not my memory — </a:t>
            </a:r>
            <a:r>
              <a:rPr sz="1300" b="1" i="1">
                <a:solidFill>
                  <a:srgbClr val="2A2230"/>
                </a:solidFill>
                <a:latin typeface="Georgia"/>
              </a:rPr>
              <a:t>yours</a:t>
            </a:r>
            <a:r>
              <a:rPr sz="1300" b="0" i="0">
                <a:solidFill>
                  <a:srgbClr val="6C6172"/>
                </a:solidFill>
                <a:latin typeface="Georgia"/>
              </a:rPr>
              <a:t>. Your world, bible, and notes — one canon I've read cover to cover and keep straight. Think of it as your board: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63040" y="2514600"/>
            <a:ext cx="9235440" cy="2514600"/>
          </a:xfrm>
          <a:prstGeom prst="roundRect">
            <a:avLst>
              <a:gd name="adj" fmla="val 3000"/>
            </a:avLst>
          </a:prstGeom>
          <a:solidFill>
            <a:srgbClr val="C39A63"/>
          </a:solidFill>
          <a:ln w="63500">
            <a:solidFill>
              <a:srgbClr val="7A5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404871" y="2871215"/>
            <a:ext cx="146304" cy="146304"/>
          </a:xfrm>
          <a:prstGeom prst="ellipse">
            <a:avLst/>
          </a:prstGeom>
          <a:solidFill>
            <a:srgbClr val="B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 rot="21360000">
            <a:off x="1682495" y="3017520"/>
            <a:ext cx="1554480" cy="1417320"/>
          </a:xfrm>
          <a:prstGeom prst="rect">
            <a:avLst/>
          </a:prstGeom>
          <a:solidFill>
            <a:srgbClr val="FCF7EC"/>
          </a:solidFill>
          <a:ln w="12700">
            <a:solidFill>
              <a:srgbClr val="F0E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1360000">
            <a:off x="1682495" y="3017520"/>
            <a:ext cx="1554480" cy="256032"/>
          </a:xfrm>
          <a:prstGeom prst="rect">
            <a:avLst/>
          </a:prstGeom>
          <a:solidFill>
            <a:srgbClr val="F0E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 rot="21360000">
            <a:off x="1755647" y="3401568"/>
            <a:ext cx="14081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A2230"/>
                </a:solidFill>
                <a:latin typeface="Calibri"/>
              </a:rPr>
              <a:t>Series bible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850" b="0" i="0">
                <a:solidFill>
                  <a:srgbClr val="6C6172"/>
                </a:solidFill>
                <a:latin typeface="Calibri"/>
              </a:rPr>
              <a:t>the rules of your world</a:t>
            </a:r>
          </a:p>
        </p:txBody>
      </p:sp>
      <p:sp>
        <p:nvSpPr>
          <p:cNvPr id="48" name="Oval 47"/>
          <p:cNvSpPr/>
          <p:nvPr/>
        </p:nvSpPr>
        <p:spPr>
          <a:xfrm>
            <a:off x="4215383" y="2871215"/>
            <a:ext cx="146304" cy="146304"/>
          </a:xfrm>
          <a:prstGeom prst="ellipse">
            <a:avLst/>
          </a:prstGeom>
          <a:solidFill>
            <a:srgbClr val="B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180000">
            <a:off x="3493007" y="3017520"/>
            <a:ext cx="1554480" cy="1417320"/>
          </a:xfrm>
          <a:prstGeom prst="rect">
            <a:avLst/>
          </a:prstGeom>
          <a:solidFill>
            <a:srgbClr val="FCF7EC"/>
          </a:solidFill>
          <a:ln w="12700">
            <a:solidFill>
              <a:srgbClr val="F0E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180000">
            <a:off x="3493007" y="3017520"/>
            <a:ext cx="1554480" cy="256032"/>
          </a:xfrm>
          <a:prstGeom prst="rect">
            <a:avLst/>
          </a:prstGeom>
          <a:solidFill>
            <a:srgbClr val="F0E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 rot="180000">
            <a:off x="3566159" y="3401568"/>
            <a:ext cx="14081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A2230"/>
                </a:solidFill>
                <a:latin typeface="Calibri"/>
              </a:rPr>
              <a:t>World research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850" b="0" i="0">
                <a:solidFill>
                  <a:srgbClr val="6C6172"/>
                </a:solidFill>
                <a:latin typeface="Calibri"/>
              </a:rPr>
              <a:t>period &amp; place</a:t>
            </a:r>
          </a:p>
        </p:txBody>
      </p:sp>
      <p:sp>
        <p:nvSpPr>
          <p:cNvPr id="52" name="Oval 51"/>
          <p:cNvSpPr/>
          <p:nvPr/>
        </p:nvSpPr>
        <p:spPr>
          <a:xfrm>
            <a:off x="6025895" y="2871215"/>
            <a:ext cx="146304" cy="146304"/>
          </a:xfrm>
          <a:prstGeom prst="ellipse">
            <a:avLst/>
          </a:prstGeom>
          <a:solidFill>
            <a:srgbClr val="B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 rot="21480000">
            <a:off x="5303519" y="3017520"/>
            <a:ext cx="1554480" cy="1417320"/>
          </a:xfrm>
          <a:prstGeom prst="rect">
            <a:avLst/>
          </a:prstGeom>
          <a:solidFill>
            <a:srgbClr val="FCF7EC"/>
          </a:solidFill>
          <a:ln w="12700">
            <a:solidFill>
              <a:srgbClr val="F0E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1480000">
            <a:off x="5303519" y="3017520"/>
            <a:ext cx="1554480" cy="256032"/>
          </a:xfrm>
          <a:prstGeom prst="rect">
            <a:avLst/>
          </a:prstGeom>
          <a:solidFill>
            <a:srgbClr val="F0E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 rot="21480000">
            <a:off x="5376671" y="3401568"/>
            <a:ext cx="14081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A2230"/>
                </a:solidFill>
                <a:latin typeface="Calibri"/>
              </a:rPr>
              <a:t>Character notes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850" b="0" i="0">
                <a:solidFill>
                  <a:srgbClr val="6C6172"/>
                </a:solidFill>
                <a:latin typeface="Calibri"/>
              </a:rPr>
              <a:t>who they are</a:t>
            </a:r>
          </a:p>
        </p:txBody>
      </p:sp>
      <p:sp>
        <p:nvSpPr>
          <p:cNvPr id="56" name="Oval 55"/>
          <p:cNvSpPr/>
          <p:nvPr/>
        </p:nvSpPr>
        <p:spPr>
          <a:xfrm>
            <a:off x="7836407" y="2871215"/>
            <a:ext cx="146304" cy="146304"/>
          </a:xfrm>
          <a:prstGeom prst="ellipse">
            <a:avLst/>
          </a:prstGeom>
          <a:solidFill>
            <a:srgbClr val="B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 rot="210000">
            <a:off x="7114031" y="3017520"/>
            <a:ext cx="1554480" cy="1417320"/>
          </a:xfrm>
          <a:prstGeom prst="rect">
            <a:avLst/>
          </a:prstGeom>
          <a:solidFill>
            <a:srgbClr val="FCF7EC"/>
          </a:solidFill>
          <a:ln w="12700">
            <a:solidFill>
              <a:srgbClr val="F0E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 rot="210000">
            <a:off x="7114031" y="3017520"/>
            <a:ext cx="1554480" cy="256032"/>
          </a:xfrm>
          <a:prstGeom prst="rect">
            <a:avLst/>
          </a:prstGeom>
          <a:solidFill>
            <a:srgbClr val="F0E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 rot="210000">
            <a:off x="7187183" y="3401568"/>
            <a:ext cx="14081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A2230"/>
                </a:solidFill>
                <a:latin typeface="Calibri"/>
              </a:rPr>
              <a:t>Location refs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850" b="0" i="0">
                <a:solidFill>
                  <a:srgbClr val="6C6172"/>
                </a:solidFill>
                <a:latin typeface="Calibri"/>
              </a:rPr>
              <a:t>where it happens</a:t>
            </a:r>
          </a:p>
        </p:txBody>
      </p:sp>
      <p:sp>
        <p:nvSpPr>
          <p:cNvPr id="60" name="Oval 59"/>
          <p:cNvSpPr/>
          <p:nvPr/>
        </p:nvSpPr>
        <p:spPr>
          <a:xfrm>
            <a:off x="9646919" y="2871215"/>
            <a:ext cx="146304" cy="146304"/>
          </a:xfrm>
          <a:prstGeom prst="ellipse">
            <a:avLst/>
          </a:prstGeom>
          <a:solidFill>
            <a:srgbClr val="B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 rot="21420000">
            <a:off x="8924544" y="3017520"/>
            <a:ext cx="1554480" cy="1417320"/>
          </a:xfrm>
          <a:prstGeom prst="rect">
            <a:avLst/>
          </a:prstGeom>
          <a:solidFill>
            <a:srgbClr val="FCF7EC"/>
          </a:solidFill>
          <a:ln w="12700">
            <a:solidFill>
              <a:srgbClr val="F0E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 rot="21420000">
            <a:off x="8924544" y="3017520"/>
            <a:ext cx="1554480" cy="256032"/>
          </a:xfrm>
          <a:prstGeom prst="rect">
            <a:avLst/>
          </a:prstGeom>
          <a:solidFill>
            <a:srgbClr val="F0E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 rot="21420000">
            <a:off x="8997696" y="3401568"/>
            <a:ext cx="14081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A2230"/>
                </a:solidFill>
                <a:latin typeface="Calibri"/>
              </a:rPr>
              <a:t>Timeline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850" b="0" i="0">
                <a:solidFill>
                  <a:srgbClr val="6C6172"/>
                </a:solidFill>
                <a:latin typeface="Calibri"/>
              </a:rPr>
              <a:t>what happens when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" y="52578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6C6172"/>
                </a:solidFill>
                <a:latin typeface="Georgia"/>
              </a:rPr>
              <a:t>Every card here, you pinned. That's the point — I keep your canon, not a made-up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E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" y="14630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6032" y="14630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" y="54864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54864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" y="95097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6032" y="95097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" y="135331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6032" y="135331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" y="175564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6032" y="175564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" y="215798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6032" y="215798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" y="256032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6032" y="256032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" y="296265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6032" y="296265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" y="3364991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6032" y="3364991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" y="376732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56032" y="376732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" y="416966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6032" y="416966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" y="457200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6032" y="457200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" y="497433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56032" y="497433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" y="537667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56032" y="537667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" y="577900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56032" y="577900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" y="618134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56032" y="618134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" y="658368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56032" y="658368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45720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6C6172"/>
                </a:solidFill>
                <a:latin typeface="Courier New"/>
              </a:rPr>
              <a:t>CUT TO: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" y="548640"/>
            <a:ext cx="3296412" cy="402336"/>
          </a:xfrm>
          <a:prstGeom prst="roundRect">
            <a:avLst>
              <a:gd name="adj" fmla="val 18000"/>
            </a:avLst>
          </a:prstGeom>
          <a:solidFill>
            <a:srgbClr val="EDE4F1"/>
          </a:solidFill>
          <a:ln w="12700">
            <a:solidFill>
              <a:srgbClr val="D3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48640"/>
            <a:ext cx="329641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6B4880"/>
                </a:solidFill>
                <a:latin typeface="Courier New"/>
              </a:rPr>
              <a:t>SC. 4 — HOW I ACTUALLY 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11887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2A2230"/>
                </a:solidFill>
                <a:latin typeface="Georgia"/>
              </a:rPr>
              <a:t>I read your bible first — then I write, true to your canon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2057400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6C6172"/>
                </a:solidFill>
                <a:latin typeface="Georgia"/>
              </a:rPr>
              <a:t>Ask me a question or hand me a scene. I don't invent: I </a:t>
            </a:r>
            <a:r>
              <a:rPr sz="1250" b="1" i="0">
                <a:solidFill>
                  <a:srgbClr val="2A2230"/>
                </a:solidFill>
                <a:latin typeface="Georgia"/>
              </a:rPr>
              <a:t>find the relevant details in your bible first</a:t>
            </a:r>
            <a:r>
              <a:rPr sz="1250" b="0" i="0">
                <a:solidFill>
                  <a:srgbClr val="6C6172"/>
                </a:solidFill>
                <a:latin typeface="Georgia"/>
              </a:rPr>
              <a:t>, then write consistent with them — and show which notes I drew on.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2788920"/>
            <a:ext cx="27432" cy="1792224"/>
          </a:xfrm>
          <a:prstGeom prst="rect">
            <a:avLst/>
          </a:prstGeom>
          <a:solidFill>
            <a:srgbClr val="D3C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2834639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A85D4E"/>
                </a:solidFill>
                <a:latin typeface="Courier New"/>
              </a:rPr>
              <a:t>›  </a:t>
            </a:r>
            <a:r>
              <a:rPr sz="1350" b="1" i="0">
                <a:solidFill>
                  <a:srgbClr val="2A2230"/>
                </a:solidFill>
                <a:latin typeface="Georgia"/>
              </a:rPr>
              <a:t>YOU:  </a:t>
            </a:r>
            <a:r>
              <a:rPr sz="1250" b="0" i="0">
                <a:solidFill>
                  <a:srgbClr val="6C6172"/>
                </a:solidFill>
                <a:latin typeface="Georgia"/>
              </a:rPr>
              <a:t>“Draft a scene brief for the 1922 airfield — keep it true to the bible.”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" y="340156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A85D4E"/>
                </a:solidFill>
                <a:latin typeface="Courier New"/>
              </a:rPr>
              <a:t>›  </a:t>
            </a:r>
            <a:r>
              <a:rPr sz="1350" b="1" i="0">
                <a:solidFill>
                  <a:srgbClr val="2A2230"/>
                </a:solidFill>
                <a:latin typeface="Georgia"/>
              </a:rPr>
              <a:t>ME (retrieving):  </a:t>
            </a:r>
            <a:r>
              <a:rPr sz="1250" b="0" i="0">
                <a:solidFill>
                  <a:srgbClr val="6C6172"/>
                </a:solidFill>
                <a:latin typeface="Georgia"/>
              </a:rPr>
              <a:t>I pull the exact details from your world research &amp; character notes.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" y="3968496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A85D4E"/>
                </a:solidFill>
                <a:latin typeface="Courier New"/>
              </a:rPr>
              <a:t>›  </a:t>
            </a:r>
            <a:r>
              <a:rPr sz="1350" b="1" i="0">
                <a:solidFill>
                  <a:srgbClr val="2A2230"/>
                </a:solidFill>
                <a:latin typeface="Georgia"/>
              </a:rPr>
              <a:t>ME (writing):  </a:t>
            </a:r>
            <a:r>
              <a:rPr sz="1250" b="0" i="0">
                <a:solidFill>
                  <a:srgbClr val="6C6172"/>
                </a:solidFill>
                <a:latin typeface="Georgia"/>
              </a:rPr>
              <a:t>A brief consistent with your world, citing your own notes — no continuity breaks.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377440" y="4754880"/>
            <a:ext cx="7434072" cy="1051560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12700">
            <a:solidFill>
              <a:srgbClr val="D3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0" y="4892040"/>
            <a:ext cx="6702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6B4880"/>
                </a:solidFill>
                <a:latin typeface="Courier New"/>
              </a:rPr>
              <a:t>MENTIBLE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0" y="5257800"/>
            <a:ext cx="57881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A2230"/>
                </a:solidFill>
                <a:latin typeface="Courier New"/>
              </a:rPr>
              <a:t>Think of me as the story editor who's memorized your bible — and never contradicts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E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" y="14630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6032" y="14630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" y="54864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54864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" y="95097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6032" y="95097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" y="135331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6032" y="135331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" y="175564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6032" y="175564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" y="215798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6032" y="215798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" y="256032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6032" y="256032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" y="296265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6032" y="296265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" y="3364991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6032" y="3364991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" y="376732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56032" y="376732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" y="416966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6032" y="416966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" y="457200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6032" y="457200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" y="497433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56032" y="497433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" y="537667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56032" y="537667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" y="577900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56032" y="577900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" y="618134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56032" y="618134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" y="658368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56032" y="658368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45720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6C6172"/>
                </a:solidFill>
                <a:latin typeface="Courier New"/>
              </a:rPr>
              <a:t>CUT TO: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" y="548640"/>
            <a:ext cx="3927348" cy="402336"/>
          </a:xfrm>
          <a:prstGeom prst="roundRect">
            <a:avLst>
              <a:gd name="adj" fmla="val 18000"/>
            </a:avLst>
          </a:prstGeom>
          <a:solidFill>
            <a:srgbClr val="EDE4F1"/>
          </a:solidFill>
          <a:ln w="12700">
            <a:solidFill>
              <a:srgbClr val="D3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48640"/>
            <a:ext cx="392734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6B4880"/>
                </a:solidFill>
                <a:latin typeface="Courier New"/>
              </a:rPr>
              <a:t>SC. 5 — BIGGER THAN YOUR RESEARCH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118872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A2230"/>
                </a:solidFill>
                <a:latin typeface="Georgia"/>
              </a:rPr>
              <a:t>Your knowledge library can outgrow your own files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178308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6C6172"/>
                </a:solidFill>
                <a:latin typeface="Georgia"/>
              </a:rPr>
              <a:t>You're not limited to what you've gathered. I can pull public-domain period texts and reference works into your knowledge library from </a:t>
            </a:r>
            <a:r>
              <a:rPr sz="1250" b="1" i="0">
                <a:solidFill>
                  <a:srgbClr val="2A2230"/>
                </a:solidFill>
                <a:latin typeface="Georgia"/>
              </a:rPr>
              <a:t>curated catalogs</a:t>
            </a:r>
            <a:r>
              <a:rPr sz="1250" b="0" i="0">
                <a:solidFill>
                  <a:srgbClr val="6C6172"/>
                </a:solidFill>
                <a:latin typeface="Georgia"/>
              </a:rPr>
              <a:t> — then ground every answer in your world.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80160" y="2743200"/>
            <a:ext cx="4206240" cy="1554480"/>
          </a:xfrm>
          <a:prstGeom prst="roundRect">
            <a:avLst>
              <a:gd name="adj" fmla="val 6000"/>
            </a:avLst>
          </a:prstGeom>
          <a:solidFill>
            <a:srgbClr val="FBF6EC"/>
          </a:solidFill>
          <a:ln w="12700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54480" y="2971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2A2230"/>
                </a:solidFill>
                <a:latin typeface="Georgia"/>
              </a:rPr>
              <a:t>What you bring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554480" y="3429000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F4EDE0"/>
          </a:solidFill>
          <a:ln w="12700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54480" y="3429000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A2230"/>
                </a:solidFill>
                <a:latin typeface="Courier New"/>
              </a:rPr>
              <a:t>series bible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63240" y="3429000"/>
            <a:ext cx="1005840" cy="365760"/>
          </a:xfrm>
          <a:prstGeom prst="roundRect">
            <a:avLst>
              <a:gd name="adj" fmla="val 30000"/>
            </a:avLst>
          </a:prstGeom>
          <a:solidFill>
            <a:srgbClr val="F4EDE0"/>
          </a:solidFill>
          <a:ln w="12700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63240" y="3429000"/>
            <a:ext cx="1005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A2230"/>
                </a:solidFill>
                <a:latin typeface="Courier New"/>
              </a:rPr>
              <a:t>research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06240" y="3429000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F4EDE0"/>
          </a:solidFill>
          <a:ln w="12700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06240" y="3429000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A2230"/>
                </a:solidFill>
                <a:latin typeface="Courier New"/>
              </a:rPr>
              <a:t>notes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0" y="2743200"/>
            <a:ext cx="9144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0" i="0">
                <a:solidFill>
                  <a:srgbClr val="6C6172"/>
                </a:solidFill>
                <a:latin typeface="Courier New"/>
              </a:rPr>
              <a:t>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720840" y="2743200"/>
            <a:ext cx="4206240" cy="1554480"/>
          </a:xfrm>
          <a:prstGeom prst="roundRect">
            <a:avLst>
              <a:gd name="adj" fmla="val 6000"/>
            </a:avLst>
          </a:prstGeom>
          <a:solidFill>
            <a:srgbClr val="FBF6EC"/>
          </a:solidFill>
          <a:ln w="12700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95159" y="2971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2A2230"/>
                </a:solidFill>
                <a:latin typeface="Georgia"/>
              </a:rPr>
              <a:t>What I pull in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95159" y="3429000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F4EDE0"/>
          </a:solidFill>
          <a:ln w="12700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95159" y="3429000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A2230"/>
                </a:solidFill>
                <a:latin typeface="Courier New"/>
              </a:rPr>
              <a:t>period texts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503919" y="3429000"/>
            <a:ext cx="1737360" cy="365760"/>
          </a:xfrm>
          <a:prstGeom prst="roundRect">
            <a:avLst>
              <a:gd name="adj" fmla="val 30000"/>
            </a:avLst>
          </a:prstGeom>
          <a:solidFill>
            <a:srgbClr val="F4EDE0"/>
          </a:solidFill>
          <a:ln w="12700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03919" y="3429000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A2230"/>
                </a:solidFill>
                <a:latin typeface="Courier New"/>
              </a:rPr>
              <a:t>curated catalogs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560320" y="4709160"/>
            <a:ext cx="7040880" cy="822960"/>
          </a:xfrm>
          <a:prstGeom prst="roundRect">
            <a:avLst>
              <a:gd name="adj" fmla="val 20000"/>
            </a:avLst>
          </a:prstGeom>
          <a:solidFill>
            <a:srgbClr val="EDE4F1"/>
          </a:solidFill>
          <a:ln w="15875">
            <a:solidFill>
              <a:srgbClr val="D3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0" y="4709160"/>
            <a:ext cx="6675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6B4880"/>
                </a:solidFill>
                <a:latin typeface="Georgia"/>
              </a:rPr>
              <a:t>= one knowledge library  </a:t>
            </a:r>
            <a:r>
              <a:rPr sz="1250" b="0" i="0">
                <a:solidFill>
                  <a:srgbClr val="2A2230"/>
                </a:solidFill>
                <a:latin typeface="Georgia"/>
              </a:rPr>
              <a:t>— richer than your own files, still your canon, still private.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E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" y="14630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6032" y="14630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" y="54864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54864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" y="95097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6032" y="95097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" y="135331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6032" y="135331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" y="175564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6032" y="175564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" y="215798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6032" y="215798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" y="256032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6032" y="256032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" y="296265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6032" y="296265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" y="3364991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6032" y="3364991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" y="376732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56032" y="376732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" y="416966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6032" y="416966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" y="457200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6032" y="457200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" y="497433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56032" y="4974336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" y="537667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56032" y="5376672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" y="577900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56032" y="5779008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" y="618134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56032" y="6181344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" y="658368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56032" y="6583680"/>
            <a:ext cx="45720" cy="12801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45720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6C6172"/>
                </a:solidFill>
                <a:latin typeface="Courier New"/>
              </a:rPr>
              <a:t>CUT TO: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" y="548640"/>
            <a:ext cx="3086100" cy="402336"/>
          </a:xfrm>
          <a:prstGeom prst="roundRect">
            <a:avLst>
              <a:gd name="adj" fmla="val 18000"/>
            </a:avLst>
          </a:prstGeom>
          <a:solidFill>
            <a:srgbClr val="EDE4F1"/>
          </a:solidFill>
          <a:ln w="12700">
            <a:solidFill>
              <a:srgbClr val="D3C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48640"/>
            <a:ext cx="30861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6B4880"/>
                </a:solidFill>
                <a:latin typeface="Courier New"/>
              </a:rPr>
              <a:t>SC. 6 — WHEN YOU'RE READY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118872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A2230"/>
                </a:solidFill>
                <a:latin typeface="Georgia"/>
              </a:rPr>
              <a:t>Take the whole world with you — desk, café, writers' room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" y="2103120"/>
            <a:ext cx="10424160" cy="2926080"/>
          </a:xfrm>
          <a:prstGeom prst="roundRect">
            <a:avLst>
              <a:gd name="adj" fmla="val 4000"/>
            </a:avLst>
          </a:prstGeom>
          <a:solidFill>
            <a:srgbClr val="FBF6EC"/>
          </a:solidFill>
          <a:ln w="15875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34440" y="2377440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5822E"/>
                </a:solidFill>
                <a:latin typeface="Courier New"/>
              </a:rPr>
              <a:t>★ FEATURE UPGRADE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34440" y="274320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1">
                <a:solidFill>
                  <a:srgbClr val="2A2230"/>
                </a:solidFill>
                <a:latin typeface="Georgia"/>
              </a:rPr>
              <a:t>One day you'll want your world not just on your desk, but on your laptop at the café and your phone in the room. That's when you'll upgrade me.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365760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Georgia"/>
              </a:rPr>
              <a:t>›  </a:t>
            </a:r>
            <a:r>
              <a:rPr sz="1300" b="1" i="0">
                <a:solidFill>
                  <a:srgbClr val="2A2230"/>
                </a:solidFill>
                <a:latin typeface="Georgia"/>
              </a:rPr>
              <a:t>One private library, every device </a:t>
            </a:r>
            <a:r>
              <a:rPr sz="1250" b="0" i="0">
                <a:solidFill>
                  <a:srgbClr val="2A2230"/>
                </a:solidFill>
                <a:latin typeface="Georgia"/>
              </a:rPr>
              <a:t>— I carry your whole world and its search across your devices, in sync.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078224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Georgia"/>
              </a:rPr>
              <a:t>›  </a:t>
            </a:r>
            <a:r>
              <a:rPr sz="1300" b="1" i="0">
                <a:solidFill>
                  <a:srgbClr val="2A2230"/>
                </a:solidFill>
                <a:latin typeface="Georgia"/>
              </a:rPr>
              <a:t>Write anywhere </a:t>
            </a:r>
            <a:r>
              <a:rPr sz="1250" b="0" i="0">
                <a:solidFill>
                  <a:srgbClr val="2A2230"/>
                </a:solidFill>
                <a:latin typeface="Georgia"/>
              </a:rPr>
              <a:t>— your canon and research, wherever the idea strikes.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4498848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Georgia"/>
              </a:rPr>
              <a:t>›  </a:t>
            </a:r>
            <a:r>
              <a:rPr sz="1300" b="1" i="0">
                <a:solidFill>
                  <a:srgbClr val="2A2230"/>
                </a:solidFill>
                <a:latin typeface="Georgia"/>
              </a:rPr>
              <a:t>Your IP stays yours </a:t>
            </a:r>
            <a:r>
              <a:rPr sz="1250" b="0" i="0">
                <a:solidFill>
                  <a:srgbClr val="2A2230"/>
                </a:solidFill>
                <a:latin typeface="Georgia"/>
              </a:rPr>
              <a:t>— private, encrypted, never shared, never used to train anyone's model.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498348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6C6172"/>
                </a:solidFill>
                <a:latin typeface="Georgia"/>
              </a:rPr>
              <a:t>Upgrading makes me a private hosted library that follows you. The free device-only version stays as it 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4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103120"/>
            <a:ext cx="8531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DE4F1"/>
                </a:solidFill>
                <a:latin typeface="Courier New"/>
              </a:rPr>
              <a:t>MENTIBLE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14600"/>
            <a:ext cx="8531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1">
                <a:solidFill>
                  <a:srgbClr val="D3C1DE"/>
                </a:solidFill>
                <a:latin typeface="Courier New"/>
              </a:rPr>
              <a:t>(my promise to you)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063240"/>
            <a:ext cx="816559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Give me the world you've already built, and I'll keep it consistent — scene after scene, draft after draft — while your unreleased IP stays yours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852160"/>
            <a:ext cx="8531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D3C1DE"/>
                </a:solidFill>
                <a:latin typeface="Courier New"/>
              </a:rPr>
              <a:t>FADE 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