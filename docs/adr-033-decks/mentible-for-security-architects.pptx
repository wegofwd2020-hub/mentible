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init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1887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 i="0">
                <a:solidFill>
                  <a:srgbClr val="E8ECF6"/>
                </a:solidFill>
                <a:latin typeface="Georgia"/>
              </a:rPr>
              <a:t>Hi, Dev.
I'm Mentible.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94A2C4"/>
                </a:solidFill>
                <a:latin typeface="Calibri"/>
              </a:rPr>
              <a:t>Your ADRs, threat models, runbooks, and the standards you trust — I'll write and answer from them, grounded in your org's own knowledge, never a chatbot's guesses.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114800"/>
            <a:ext cx="10515600" cy="960120"/>
          </a:xfrm>
          <a:prstGeom prst="roundRect">
            <a:avLst>
              <a:gd name="adj" fmla="val 8000"/>
            </a:avLst>
          </a:prstGeom>
          <a:solidFill>
            <a:srgbClr val="1E2A45"/>
          </a:solidFill>
          <a:ln w="15875">
            <a:solidFill>
              <a:srgbClr val="5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" y="4114800"/>
            <a:ext cx="91440" cy="960120"/>
          </a:xfrm>
          <a:prstGeom prst="rect">
            <a:avLst/>
          </a:prstGeom>
          <a:solidFill>
            <a:srgbClr val="5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4279392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8C2D6"/>
                </a:solidFill>
                <a:latin typeface="Consolas"/>
              </a:rPr>
              <a:t>// mentible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4572000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8ECF6"/>
                </a:solidFill>
                <a:latin typeface="Georgia"/>
              </a:rPr>
              <a:t>I read only your architecture, and I cite the exact doc. No generic boilerplate.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3492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2C4"/>
                </a:solidFill>
                <a:latin typeface="Consolas"/>
              </a:rPr>
              <a:t># user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ECF6"/>
                </a:solidFill>
                <a:latin typeface="Calibri"/>
              </a:rPr>
              <a:t>Dev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   software security architect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section_01 : the_problem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E8ECF6"/>
                </a:solidFill>
                <a:latin typeface="Georgia"/>
              </a:rPr>
              <a:t>Your org's security knowledge is scattered, and generic AI leaks context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2468880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Your knowledge is everywhere.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ADRs, threat models, runbooks, incident write-ups, standards — across wikis, repos, and heads.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3072384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It doesn't onboard anyone.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New engineers re-ask the same questions; context lives in people, not one place.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675888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The generic chatbots?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Generic OWASP boilerplate, missing YOUR architecture — and you can't paste confidential models into someone's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section_02 : getting_started --free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E8ECF6"/>
                </a:solidFill>
                <a:latin typeface="Georgia"/>
              </a:rPr>
              <a:t>No sign-up. Nothing leaves your machine.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7830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4A2C4"/>
                </a:solidFill>
                <a:latin typeface="Calibri"/>
              </a:rPr>
              <a:t>Install me, point me at your security library, and we start — everything stays on your own machine.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6879" y="260604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1E2A45"/>
          </a:solidFill>
          <a:ln w="15875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1199" y="2834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8C2D6"/>
                </a:solidFill>
                <a:latin typeface="Consolas"/>
              </a:rPr>
              <a:t>step_1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1199" y="31546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E8ECF6"/>
                </a:solidFill>
                <a:latin typeface="Calibri"/>
              </a:rPr>
              <a:t>Open me 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199" y="356616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94A2C4"/>
                </a:solidFill>
                <a:latin typeface="Calibri"/>
              </a:rPr>
              <a:t>Free to start. No account, works offline.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404207" y="260604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1E2A45"/>
          </a:solidFill>
          <a:ln w="15875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8527" y="2834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8C2D6"/>
                </a:solidFill>
                <a:latin typeface="Consolas"/>
              </a:rPr>
              <a:t>step_2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78527" y="31546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E8ECF6"/>
                </a:solidFill>
                <a:latin typeface="Calibri"/>
              </a:rPr>
              <a:t>Hand me your knowledge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78527" y="356616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94A2C4"/>
                </a:solidFill>
                <a:latin typeface="Calibri"/>
              </a:rPr>
              <a:t>ADRs, threat models, runbooks, standards — they become your knowledge library.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71535" y="260604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1E2A45"/>
          </a:solidFill>
          <a:ln w="15875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45855" y="2834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58C2D6"/>
                </a:solidFill>
                <a:latin typeface="Consolas"/>
              </a:rPr>
              <a:t>step_3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5855" y="31546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E8ECF6"/>
                </a:solidFill>
                <a:latin typeface="Calibri"/>
              </a:rPr>
              <a:t>Ask, or hand me a draft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5855" y="356616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94A2C4"/>
                </a:solidFill>
                <a:latin typeface="Calibri"/>
              </a:rPr>
              <a:t>I answer and write from your org's own knowledge.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4709160"/>
            <a:ext cx="10515600" cy="640080"/>
          </a:xfrm>
          <a:prstGeom prst="roundRect">
            <a:avLst>
              <a:gd name="adj" fmla="val 20000"/>
            </a:avLst>
          </a:prstGeom>
          <a:solidFill>
            <a:srgbClr val="1E2A45"/>
          </a:solidFill>
          <a:ln w="15875">
            <a:solidFill>
              <a:srgbClr val="59C3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4709160"/>
            <a:ext cx="9875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C38C"/>
                </a:solidFill>
                <a:latin typeface="Consolas"/>
              </a:rPr>
              <a:t>✓ On the free tier I live entirely on your machine. </a:t>
            </a:r>
            <a:r>
              <a:rPr sz="1250" b="0" i="0">
                <a:solidFill>
                  <a:srgbClr val="E8ECF6"/>
                </a:solidFill>
                <a:latin typeface="Calibri"/>
              </a:rPr>
              <a:t>I can't see your library — and neither can anyone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section_03 : your_knowledge_library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058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E8ECF6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57276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94A2C4"/>
                </a:solidFill>
                <a:latin typeface="Calibri"/>
              </a:rPr>
              <a:t>Not my memory — </a:t>
            </a:r>
            <a:r>
              <a:rPr sz="1300" b="1" i="1">
                <a:solidFill>
                  <a:srgbClr val="E8ECF6"/>
                </a:solidFill>
                <a:latin typeface="Calibri"/>
              </a:rPr>
              <a:t>yours</a:t>
            </a:r>
            <a:r>
              <a:rPr sz="1300" b="0" i="0">
                <a:solidFill>
                  <a:srgbClr val="94A2C4"/>
                </a:solidFill>
                <a:latin typeface="Calibri"/>
              </a:rPr>
              <a:t>. Your org's own docs, mapped — so answers reflect YOUR architecture: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286000" y="2834640"/>
            <a:ext cx="3810304" cy="77724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023360" y="3611880"/>
            <a:ext cx="2072944" cy="128016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304" y="3611880"/>
            <a:ext cx="0" cy="160020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096304" y="3611880"/>
            <a:ext cx="2041856" cy="128016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096304" y="2834640"/>
            <a:ext cx="3779216" cy="777240"/>
          </a:xfrm>
          <a:prstGeom prst="line">
            <a:avLst/>
          </a:prstGeom>
          <a:ln w="19050">
            <a:solidFill>
              <a:srgbClr val="3544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792224" y="2578608"/>
            <a:ext cx="987552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2224" y="2578608"/>
            <a:ext cx="98755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ADRs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35808" y="4636007"/>
            <a:ext cx="1975104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35808" y="4636007"/>
            <a:ext cx="197510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threat_models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83072" y="4956048"/>
            <a:ext cx="1426464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83072" y="4956048"/>
            <a:ext cx="14264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runbooks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4636007"/>
            <a:ext cx="1645919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0" y="4636007"/>
            <a:ext cx="164591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OWASP/NIST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07424" y="2578608"/>
            <a:ext cx="1536192" cy="512064"/>
          </a:xfrm>
          <a:prstGeom prst="roundRect">
            <a:avLst>
              <a:gd name="adj" fmla="val 30000"/>
            </a:avLst>
          </a:prstGeom>
          <a:solidFill>
            <a:srgbClr val="1E2A45"/>
          </a:solidFill>
          <a:ln w="1905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07424" y="2578608"/>
            <a:ext cx="15361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E8ECF6"/>
                </a:solidFill>
                <a:latin typeface="Consolas"/>
              </a:rPr>
              <a:t>incidents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87544" y="3246120"/>
            <a:ext cx="3017520" cy="731520"/>
          </a:xfrm>
          <a:prstGeom prst="roundRect">
            <a:avLst>
              <a:gd name="adj" fmla="val 30000"/>
            </a:avLst>
          </a:prstGeom>
          <a:solidFill>
            <a:srgbClr val="5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87544" y="324612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0E1626"/>
                </a:solidFill>
                <a:latin typeface="Consolas"/>
              </a:rPr>
              <a:t>your knowledge library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58064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1">
                <a:solidFill>
                  <a:srgbClr val="94A2C4"/>
                </a:solidFill>
                <a:latin typeface="Consolas"/>
              </a:rPr>
              <a:t>// every node here, you added. I reason about your system, not a generic 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section_04 : how_i_work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E8ECF6"/>
                </a:solidFill>
                <a:latin typeface="Georgia"/>
              </a:rPr>
              <a:t>I read your library first — then answer, for your architecture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92024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94A2C4"/>
                </a:solidFill>
                <a:latin typeface="Calibri"/>
              </a:rPr>
              <a:t>Ask me a question or hand me a draft. I don't hand-wave: I </a:t>
            </a:r>
            <a:r>
              <a:rPr sz="1250" b="1" i="0">
                <a:solidFill>
                  <a:srgbClr val="E8ECF6"/>
                </a:solidFill>
                <a:latin typeface="Calibri"/>
              </a:rPr>
              <a:t>find the relevant sections in your library first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, then answer grounded in them — citing which docs I used.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2606040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you ask: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“Draft onboarding on our auth threat model — for a new backend engineer.”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209544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i retrieve: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I pull the exact sections from your ADRs &amp; threat models.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3813048"/>
            <a:ext cx="1042416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58C2D6"/>
                </a:solidFill>
                <a:latin typeface="Consolas"/>
              </a:rPr>
              <a:t>› </a:t>
            </a:r>
            <a:r>
              <a:rPr sz="1400" b="1" i="0">
                <a:solidFill>
                  <a:srgbClr val="E8ECF6"/>
                </a:solidFill>
                <a:latin typeface="Calibri"/>
              </a:rPr>
              <a:t>i answer:  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A grounded brief citing your own docs — not generic boilerplate.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94560" y="4663440"/>
            <a:ext cx="7772400" cy="1005840"/>
          </a:xfrm>
          <a:prstGeom prst="roundRect">
            <a:avLst>
              <a:gd name="adj" fmla="val 8000"/>
            </a:avLst>
          </a:prstGeom>
          <a:solidFill>
            <a:srgbClr val="1E2A45"/>
          </a:solidFill>
          <a:ln w="15875">
            <a:solidFill>
              <a:srgbClr val="5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94560" y="4663440"/>
            <a:ext cx="91440" cy="1005840"/>
          </a:xfrm>
          <a:prstGeom prst="rect">
            <a:avLst/>
          </a:prstGeom>
          <a:solidFill>
            <a:srgbClr val="58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514600" y="4828031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8C2D6"/>
                </a:solidFill>
                <a:latin typeface="Consolas"/>
              </a:rPr>
              <a:t>// mentible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14600" y="5120640"/>
            <a:ext cx="7178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E8ECF6"/>
                </a:solidFill>
                <a:latin typeface="Georgia"/>
              </a:rPr>
              <a:t>The senior engineer who's read every ADR and cites the exact decision — never generic advice.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section_05 : beyond_your_repo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8ECF6"/>
                </a:solidFill>
                <a:latin typeface="Georgia"/>
              </a:rPr>
              <a:t>Your knowledge library can outgrow your own repo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645920"/>
            <a:ext cx="10424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94A2C4"/>
                </a:solidFill>
                <a:latin typeface="Calibri"/>
              </a:rPr>
              <a:t>You're not limited to your internal docs. I can pull public standards and reference texts into your knowledge library from </a:t>
            </a:r>
            <a:r>
              <a:rPr sz="1250" b="1" i="0">
                <a:solidFill>
                  <a:srgbClr val="E8ECF6"/>
                </a:solidFill>
                <a:latin typeface="Calibri"/>
              </a:rPr>
              <a:t>curated catalogs</a:t>
            </a:r>
            <a:r>
              <a:rPr sz="1250" b="0" i="0">
                <a:solidFill>
                  <a:srgbClr val="94A2C4"/>
                </a:solidFill>
                <a:latin typeface="Calibri"/>
              </a:rPr>
              <a:t> — grounded in your architecture.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80160" y="2560320"/>
            <a:ext cx="4206240" cy="15087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54480" y="27614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CF6"/>
                </a:solidFill>
                <a:latin typeface="Calibri"/>
              </a:rPr>
              <a:t>what you bring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54480" y="3200400"/>
            <a:ext cx="64008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54480" y="3200400"/>
            <a:ext cx="640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ADRs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32004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3200400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threat_models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31920" y="3200400"/>
            <a:ext cx="100584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31920" y="3200400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runbooks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2560320"/>
            <a:ext cx="91440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 i="0">
                <a:solidFill>
                  <a:srgbClr val="94A2C4"/>
                </a:solidFill>
                <a:latin typeface="Consolas"/>
              </a:rPr>
              <a:t>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20840" y="2560320"/>
            <a:ext cx="4206240" cy="15087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95159" y="276148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CF6"/>
                </a:solidFill>
                <a:latin typeface="Calibri"/>
              </a:rPr>
              <a:t>what I pull in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995159" y="320040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95159" y="320040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public standards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69680" y="320040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141C30"/>
          </a:solidFill>
          <a:ln w="12700">
            <a:solidFill>
              <a:srgbClr val="3A4B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9680" y="320040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8ECF6"/>
                </a:solidFill>
                <a:latin typeface="Consolas"/>
              </a:rPr>
              <a:t>curated catalogs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560320" y="4572000"/>
            <a:ext cx="7040880" cy="777240"/>
          </a:xfrm>
          <a:prstGeom prst="roundRect">
            <a:avLst>
              <a:gd name="adj" fmla="val 20000"/>
            </a:avLst>
          </a:prstGeom>
          <a:solidFill>
            <a:srgbClr val="1E2A45"/>
          </a:solidFill>
          <a:ln w="15875">
            <a:solidFill>
              <a:srgbClr val="5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0" y="4572000"/>
            <a:ext cx="6675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58C2D6"/>
                </a:solidFill>
                <a:latin typeface="Consolas"/>
              </a:rPr>
              <a:t>= one knowledge library  </a:t>
            </a:r>
            <a:r>
              <a:rPr sz="1200" b="0" i="0">
                <a:solidFill>
                  <a:srgbClr val="E8ECF6"/>
                </a:solidFill>
                <a:latin typeface="Calibri"/>
              </a:rPr>
              <a:t>— broader than your repo, still your architecture.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" y="5029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8C2D6"/>
                </a:solidFill>
                <a:latin typeface="Consolas"/>
              </a:rPr>
              <a:t>$ mentible </a:t>
            </a:r>
            <a:r>
              <a:rPr sz="1200" b="0" i="0">
                <a:solidFill>
                  <a:srgbClr val="94A2C4"/>
                </a:solidFill>
                <a:latin typeface="Consolas"/>
              </a:rPr>
              <a:t>— section_06 : upgrade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05156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E8ECF6"/>
                </a:solidFill>
                <a:latin typeface="Georgia"/>
              </a:rPr>
              <a:t>Take me everywhere — and into every new engineer's onboarding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1783080"/>
            <a:ext cx="10515600" cy="3063240"/>
          </a:xfrm>
          <a:prstGeom prst="roundRect">
            <a:avLst>
              <a:gd name="adj" fmla="val 4000"/>
            </a:avLst>
          </a:prstGeom>
          <a:solidFill>
            <a:srgbClr val="1E2A45"/>
          </a:solidFill>
          <a:ln w="15875">
            <a:solidFill>
              <a:srgbClr val="E0B1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88720" y="2057400"/>
            <a:ext cx="9784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E8ECF6"/>
                </a:solidFill>
                <a:latin typeface="Calibri"/>
              </a:rPr>
              <a:t>One day you'll want your security knowledge not just on your laptop, but on every machine and in every new engineer's onboarding. That's when you'll upgrade me.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29260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B15E"/>
                </a:solidFill>
                <a:latin typeface="Consolas"/>
              </a:rPr>
              <a:t>› </a:t>
            </a:r>
            <a:r>
              <a:rPr sz="1300" b="1" i="0">
                <a:solidFill>
                  <a:srgbClr val="E8ECF6"/>
                </a:solidFill>
                <a:latin typeface="Calibri"/>
              </a:rPr>
              <a:t>One private library, every device </a:t>
            </a:r>
            <a:r>
              <a:rPr sz="1200" b="0" i="0">
                <a:solidFill>
                  <a:srgbClr val="E8ECF6"/>
                </a:solidFill>
                <a:latin typeface="Calibri"/>
              </a:rPr>
              <a:t>— I carry your whole security library and its search across your devices, in sync.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33832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B15E"/>
                </a:solidFill>
                <a:latin typeface="Consolas"/>
              </a:rPr>
              <a:t>› </a:t>
            </a:r>
            <a:r>
              <a:rPr sz="1300" b="1" i="0">
                <a:solidFill>
                  <a:srgbClr val="E8ECF6"/>
                </a:solidFill>
                <a:latin typeface="Calibri"/>
              </a:rPr>
              <a:t>Onboard faster </a:t>
            </a:r>
            <a:r>
              <a:rPr sz="1200" b="0" i="0">
                <a:solidFill>
                  <a:srgbClr val="E8ECF6"/>
                </a:solidFill>
                <a:latin typeface="Calibri"/>
              </a:rPr>
              <a:t>— new engineers ask me and get YOUR architecture's answers, not boilerplate.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8404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0B15E"/>
                </a:solidFill>
                <a:latin typeface="Consolas"/>
              </a:rPr>
              <a:t>› </a:t>
            </a:r>
            <a:r>
              <a:rPr sz="1300" b="1" i="0">
                <a:solidFill>
                  <a:srgbClr val="E8ECF6"/>
                </a:solidFill>
                <a:latin typeface="Calibri"/>
              </a:rPr>
              <a:t>Confidential stays confidential </a:t>
            </a:r>
            <a:r>
              <a:rPr sz="1200" b="0" i="0">
                <a:solidFill>
                  <a:srgbClr val="E8ECF6"/>
                </a:solidFill>
                <a:latin typeface="Calibri"/>
              </a:rPr>
              <a:t>— private, encrypted, never shared, never used to train anyone's 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" y="452628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94A2C4"/>
                </a:solidFill>
                <a:latin typeface="Calibri"/>
              </a:rPr>
              <a:t>Upgrading makes me a private hosted library that follows you. The free device-only version stays as it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90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1980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82971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439619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49524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65942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6933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79238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9143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904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0895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885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2876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38667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8572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75847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36838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978286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588191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198095" y="0"/>
            <a:ext cx="0" cy="685800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0" y="60990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121980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82971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2439619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3049524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365942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426933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4879238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5489143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6099047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708952"/>
            <a:ext cx="12191695" cy="0"/>
          </a:xfrm>
          <a:prstGeom prst="line">
            <a:avLst/>
          </a:prstGeom>
          <a:ln w="9525">
            <a:solidFill>
              <a:srgbClr val="232F4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8C2D6"/>
                </a:solidFill>
                <a:latin typeface="Consolas"/>
              </a:rPr>
              <a:t>$ mentible --promise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2743200"/>
            <a:ext cx="10058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E8ECF6"/>
                </a:solidFill>
                <a:latin typeface="Georgia"/>
              </a:rPr>
              <a:t>Give me your org's security knowledge, and I'll turn it into onboarding, training, and threat-model drafts — grounded in your architecture, confidential by default.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4A2C4"/>
                </a:solidFill>
                <a:latin typeface="Consolas"/>
              </a:rPr>
              <a:t># free on your device · paid across every device — learn → author → carry, privately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