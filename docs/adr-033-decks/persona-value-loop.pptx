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91440" cy="6858000"/>
          </a:xfrm>
          <a:prstGeom prst="rect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7744" y="0"/>
            <a:ext cx="91440" cy="6858000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470"/>
                </a:solidFill>
                <a:latin typeface="Consolas"/>
              </a:rPr>
              <a:t>MENTIBLE · HOW YOU GET VALUE · LEARN → AUTHOR → CARRY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300" b="1" i="0">
                <a:solidFill>
                  <a:srgbClr val="1B2027"/>
                </a:solidFill>
                <a:latin typeface="Georgia"/>
              </a:rPr>
              <a:t>Your own library, turned into something
you learn from and write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5B6470"/>
                </a:solidFill>
                <a:latin typeface="Calibri"/>
              </a:rPr>
              <a:t>One loop: learn a topic scoped to you, author content grounded in your own library, and carry that library — private — to every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423" y="370332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7423" y="370332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3455" y="3959352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E6ECF4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7463" y="4078224"/>
            <a:ext cx="512064" cy="40233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4351" y="4078224"/>
            <a:ext cx="18288" cy="40233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8983" y="395935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4A6B"/>
                </a:solidFill>
                <a:latin typeface="Consolas"/>
              </a:rPr>
              <a:t>1 · 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8983" y="4206240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Scoped to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743" y="472744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Any topic, at your level, on what you already know.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2767" y="370332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12767" y="370332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68799" y="3959352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 rot="2700000">
            <a:off x="4833975" y="4023359"/>
            <a:ext cx="109728" cy="457200"/>
          </a:xfrm>
          <a:prstGeom prst="roundRect">
            <a:avLst>
              <a:gd name="adj" fmla="val 4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13500000">
            <a:off x="4998567" y="4389120"/>
            <a:ext cx="128016" cy="128016"/>
          </a:xfrm>
          <a:prstGeom prst="triangl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4327" y="395935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8F83"/>
                </a:solidFill>
                <a:latin typeface="Consolas"/>
              </a:rPr>
              <a:t>2 · AUTHOR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4327" y="4206240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Grounded in your 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7087" y="472744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Turn your books &amp; notes into lessons that cite your own sources.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08111" y="370332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08111" y="370332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64143" y="3959352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F6EEDD"/>
          </a:solidFill>
          <a:ln w="1270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01303" y="4005072"/>
            <a:ext cx="365760" cy="548640"/>
          </a:xfrm>
          <a:prstGeom prst="roundRect">
            <a:avLst>
              <a:gd name="adj" fmla="val 18000"/>
            </a:avLst>
          </a:prstGeom>
          <a:noFill/>
          <a:ln w="2540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29319" y="4443983"/>
            <a:ext cx="109728" cy="27432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9671" y="395935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5822E"/>
                </a:solidFill>
                <a:latin typeface="Consolas"/>
              </a:rPr>
              <a:t>3 · CARRY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59671" y="4206240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Private, every device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2431" y="472744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Your library follows your account — and stays yours.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1">
                <a:solidFill>
                  <a:srgbClr val="5B6470"/>
                </a:solidFill>
                <a:latin typeface="Calibri"/>
              </a:rPr>
              <a:t>The same loop, four lives — each person leans on the parts that matter most to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6ECF4"/>
          </a:solidFill>
          <a:ln w="1587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9304" y="841247"/>
            <a:ext cx="164592" cy="512064"/>
          </a:xfrm>
          <a:prstGeom prst="roundRect">
            <a:avLst>
              <a:gd name="adj" fmla="val 30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5568" y="1014983"/>
            <a:ext cx="512064" cy="164592"/>
          </a:xfrm>
          <a:prstGeom prst="roundRect">
            <a:avLst>
              <a:gd name="adj" fmla="val 30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5740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B2027"/>
                </a:solidFill>
                <a:latin typeface="Georgia"/>
              </a:rPr>
              <a:t>Dr. Anaya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11887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Internal-medicine physician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B6470"/>
                </a:solidFill>
                <a:latin typeface="Consolas"/>
              </a:rPr>
              <a:t>THEIR LIBRARY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28800"/>
            <a:ext cx="208483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828800"/>
            <a:ext cx="20848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Specialty guidelines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1183" y="1828800"/>
            <a:ext cx="136794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1183" y="1828800"/>
            <a:ext cx="136794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Journal PDFs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3718" y="182880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3718" y="1828800"/>
            <a:ext cx="16367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Drug 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5086" y="182880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5086" y="1828800"/>
            <a:ext cx="1188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Case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7423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587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031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4A6B"/>
                </a:solidFill>
                <a:latin typeface="Consolas"/>
              </a:rPr>
              <a:t>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031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Brush up on a new anticoagulation protocol — at a consultant's depth, not a student's.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2767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5375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8F83"/>
                </a:solidFill>
                <a:latin typeface="Consolas"/>
              </a:rPr>
              <a:t>AUTHOR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5375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Generate a plain-language patient handout, grounded in her own guideline set, with citations she trusts.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08111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0719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nsolas"/>
              </a:rPr>
              <a:t>CARRY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0719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Opens on the ward tablet, the clinic PC, her phone. Sensitive clinical material stays hers — private.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257800"/>
            <a:ext cx="103601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52578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5257800"/>
            <a:ext cx="9784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B5822E"/>
                </a:solidFill>
                <a:latin typeface="Calibri"/>
              </a:rPr>
              <a:t>★  The payoff:  </a:t>
            </a:r>
            <a:r>
              <a:rPr sz="1350" b="0" i="0">
                <a:solidFill>
                  <a:srgbClr val="1B2027"/>
                </a:solidFill>
                <a:latin typeface="Calibri"/>
              </a:rPr>
              <a:t>from the literature she already keeps → a handout a patient can actually read, in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078992" y="914400"/>
            <a:ext cx="585216" cy="310896"/>
          </a:xfrm>
          <a:prstGeom prst="diamond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25296" y="1097280"/>
            <a:ext cx="292608" cy="182880"/>
          </a:xfrm>
          <a:prstGeom prst="rect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91056" y="1115568"/>
            <a:ext cx="54864" cy="54864"/>
          </a:xfrm>
          <a:prstGeom prst="ellips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B2027"/>
                </a:solidFill>
                <a:latin typeface="Georgia"/>
              </a:rPr>
              <a:t>Sam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11887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Second-year medical student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B6470"/>
                </a:solidFill>
                <a:latin typeface="Consolas"/>
              </a:rPr>
              <a:t>THEIR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828800"/>
            <a:ext cx="109910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828800"/>
            <a:ext cx="10991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Textbooks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15460" y="1828800"/>
            <a:ext cx="15471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5460" y="1828800"/>
            <a:ext cx="15471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Lecture slides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7217" y="1828800"/>
            <a:ext cx="1278331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7217" y="1828800"/>
            <a:ext cx="127833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Past papers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423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587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0031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4A6B"/>
                </a:solidFill>
                <a:latin typeface="Consolas"/>
              </a:rPr>
              <a:t>LEARN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031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Finally understand the RAAS cascade — explained at their level, building on what they already know.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2767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5375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8F83"/>
                </a:solidFill>
                <a:latin typeface="Consolas"/>
              </a:rPr>
              <a:t>AUTHOR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5375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Turn the chapter into a self-quiz and a one-page summary, grounded in their own textbook.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8111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0719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nsolas"/>
              </a:rPr>
              <a:t>CARRY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0719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Commute on the phone, library on the tablet, home on the laptop — same shelf, in sync.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257800"/>
            <a:ext cx="103601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52578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5257800"/>
            <a:ext cx="9784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B5822E"/>
                </a:solidFill>
                <a:latin typeface="Calibri"/>
              </a:rPr>
              <a:t>★  The payoff:  </a:t>
            </a:r>
            <a:r>
              <a:rPr sz="1350" b="0" i="0">
                <a:solidFill>
                  <a:srgbClr val="1B2027"/>
                </a:solidFill>
                <a:latin typeface="Calibri"/>
              </a:rPr>
              <a:t>their own textbooks become quizzes and lessons — not generic web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87552"/>
            <a:ext cx="548640" cy="329184"/>
          </a:xfrm>
          <a:prstGeom prst="roundRect">
            <a:avLst>
              <a:gd name="adj" fmla="val 1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1078992" y="822959"/>
            <a:ext cx="585216" cy="146304"/>
          </a:xfrm>
          <a:prstGeom prst="parallelogram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1200000">
            <a:off x="1207008" y="832103"/>
            <a:ext cx="27432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1200000">
            <a:off x="1389888" y="832103"/>
            <a:ext cx="27432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1200000">
            <a:off x="1572768" y="832103"/>
            <a:ext cx="27432" cy="1280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B2027"/>
                </a:solidFill>
                <a:latin typeface="Georgia"/>
              </a:rPr>
              <a:t>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11887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Feature screenwriter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B6470"/>
                </a:solidFill>
                <a:latin typeface="Consolas"/>
              </a:rPr>
              <a:t>THEIR LIBRARY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1828800"/>
            <a:ext cx="154716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828800"/>
            <a:ext cx="15471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World research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3516" y="1828800"/>
            <a:ext cx="136794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3516" y="1828800"/>
            <a:ext cx="136794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Series bible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6051" y="182880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96051" y="1828800"/>
            <a:ext cx="16367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Character notes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7419" y="1828800"/>
            <a:ext cx="145755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7419" y="1828800"/>
            <a:ext cx="145755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Location refs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423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587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031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4A6B"/>
                </a:solidFill>
                <a:latin typeface="Consolas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031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Get up to speed on 1920s barnstorming aviation — scoped to exactly what the story needs.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2767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5375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8F83"/>
                </a:solidFill>
                <a:latin typeface="Consolas"/>
              </a:rPr>
              <a:t>AUTHOR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5375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Draft scene research briefs grounded in her own corpus, so the world stays consistent — one canon.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08111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0719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nsolas"/>
              </a:rPr>
              <a:t>CARRY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0719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Unreleased research and bible never leave her control — private by default — and follow her desk to café.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257800"/>
            <a:ext cx="103601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52578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5257800"/>
            <a:ext cx="9784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B5822E"/>
                </a:solidFill>
                <a:latin typeface="Calibri"/>
              </a:rPr>
              <a:t>★  The payoff:  </a:t>
            </a:r>
            <a:r>
              <a:rPr sz="1350" b="0" i="0">
                <a:solidFill>
                  <a:srgbClr val="1B2027"/>
                </a:solidFill>
                <a:latin typeface="Calibri"/>
              </a:rPr>
              <a:t>a private research library that keeps her world consistent — and her IP hers.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64008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6ECF4"/>
          </a:solidFill>
          <a:ln w="1587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34440" y="841247"/>
            <a:ext cx="274320" cy="274320"/>
          </a:xfrm>
          <a:prstGeom prst="ellipse">
            <a:avLst/>
          </a:prstGeom>
          <a:noFill/>
          <a:ln w="2857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024127"/>
            <a:ext cx="365760" cy="310896"/>
          </a:xfrm>
          <a:prstGeom prst="roundRect">
            <a:avLst>
              <a:gd name="adj" fmla="val 18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35024" y="111556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B2027"/>
                </a:solidFill>
                <a:latin typeface="Georgia"/>
              </a:rPr>
              <a:t>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5688" y="11887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470"/>
                </a:solidFill>
                <a:latin typeface="Calibri"/>
              </a:rPr>
              <a:t>Software security architect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20116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5B6470"/>
                </a:solidFill>
                <a:latin typeface="Consolas"/>
              </a:rPr>
              <a:t>THEIR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828800"/>
            <a:ext cx="6510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828800"/>
            <a:ext cx="6510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ADRs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404" y="1828800"/>
            <a:ext cx="145755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7404" y="1828800"/>
            <a:ext cx="1457553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Threat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9550" y="1828800"/>
            <a:ext cx="100949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9550" y="1828800"/>
            <a:ext cx="1009497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Runbooks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28800"/>
            <a:ext cx="136794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828800"/>
            <a:ext cx="136794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OWASP / NIST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6174" y="1828800"/>
            <a:ext cx="190560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6174" y="1828800"/>
            <a:ext cx="190560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1B2027"/>
                </a:solidFill>
                <a:latin typeface="Calibri"/>
              </a:rPr>
              <a:t>Incident write-ups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7423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E6ECF4"/>
          </a:solidFill>
          <a:ln w="1587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031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E4A6B"/>
                </a:solidFill>
                <a:latin typeface="Consolas"/>
              </a:rPr>
              <a:t>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031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Come up to speed on a new attack class — at an architect's depth, not an intro.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2767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5375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8F83"/>
                </a:solidFill>
                <a:latin typeface="Consolas"/>
              </a:rPr>
              <a:t>AUTHOR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5375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Produce internal security training and a threat-model brief, grounded in the org's own security library.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08111" y="260604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0719" y="2834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5822E"/>
                </a:solidFill>
                <a:latin typeface="Consolas"/>
              </a:rPr>
              <a:t>CARRY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0719" y="3246120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1B2027"/>
                </a:solidFill>
                <a:latin typeface="Calibri"/>
              </a:rPr>
              <a:t>Confidential internal material stays private to him; his library is on every work machine.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257800"/>
            <a:ext cx="10360152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525780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5257800"/>
            <a:ext cx="97840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B5822E"/>
                </a:solidFill>
                <a:latin typeface="Calibri"/>
              </a:rPr>
              <a:t>★  The payoff:  </a:t>
            </a:r>
            <a:r>
              <a:rPr sz="1350" b="0" i="0">
                <a:solidFill>
                  <a:srgbClr val="1B2027"/>
                </a:solidFill>
                <a:latin typeface="Calibri"/>
              </a:rPr>
              <a:t>the org's own security knowledge becomes onboarding and training — grounded, private, current.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470"/>
                </a:solidFill>
                <a:latin typeface="Consolas"/>
              </a:rPr>
              <a:t>ONE LOOP · FOUR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027"/>
                </a:solidFill>
                <a:latin typeface="Georgia"/>
              </a:rPr>
              <a:t>Same product. Same loop. Different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Whatever you keep in your library, Mentible helps you learn from it, write with it, and carry it privately.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7423" y="26974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7423" y="269748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3455" y="2953512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E6ECF4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7463" y="3072384"/>
            <a:ext cx="512064" cy="402336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4351" y="3072384"/>
            <a:ext cx="18288" cy="402336"/>
          </a:xfrm>
          <a:prstGeom prst="rect">
            <a:avLst/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8983" y="295351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E4A6B"/>
                </a:solidFill>
                <a:latin typeface="Consolas"/>
              </a:rPr>
              <a:t>1 · 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8983" y="3200400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Scoped to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1743" y="372160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Any topic, at your level, on what you already know.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2767" y="26974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12767" y="269748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8799" y="2953512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E7F1EF"/>
          </a:solidFill>
          <a:ln w="12700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 rot="2700000">
            <a:off x="4833975" y="3017520"/>
            <a:ext cx="109728" cy="457200"/>
          </a:xfrm>
          <a:prstGeom prst="roundRect">
            <a:avLst>
              <a:gd name="adj" fmla="val 4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3500000">
            <a:off x="4998567" y="3383280"/>
            <a:ext cx="128016" cy="128016"/>
          </a:xfrm>
          <a:prstGeom prst="triangl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4327" y="295351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8F83"/>
                </a:solidFill>
                <a:latin typeface="Consolas"/>
              </a:rPr>
              <a:t>2 · AUTHOR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4327" y="3200400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Grounded in your library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7087" y="372160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Turn your books &amp; notes into lessons that cite your own sources.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08111" y="2697480"/>
            <a:ext cx="35661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08111" y="2697480"/>
            <a:ext cx="82296" cy="1783080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64143" y="2953512"/>
            <a:ext cx="640080" cy="640080"/>
          </a:xfrm>
          <a:prstGeom prst="roundRect">
            <a:avLst>
              <a:gd name="adj" fmla="val 25000"/>
            </a:avLst>
          </a:prstGeom>
          <a:solidFill>
            <a:srgbClr val="F6EEDD"/>
          </a:solidFill>
          <a:ln w="1270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01303" y="2999232"/>
            <a:ext cx="365760" cy="548640"/>
          </a:xfrm>
          <a:prstGeom prst="roundRect">
            <a:avLst>
              <a:gd name="adj" fmla="val 18000"/>
            </a:avLst>
          </a:prstGeom>
          <a:noFill/>
          <a:ln w="2540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29319" y="3438144"/>
            <a:ext cx="109728" cy="27432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59671" y="2953512"/>
            <a:ext cx="2377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5822E"/>
                </a:solidFill>
                <a:latin typeface="Consolas"/>
              </a:rPr>
              <a:t>3 · CARRY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9671" y="3200400"/>
            <a:ext cx="23774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Private, every 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2431" y="3721608"/>
            <a:ext cx="30175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alibri"/>
              </a:rPr>
              <a:t>Your library follows your account — and stays yours.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00600"/>
            <a:ext cx="1362456" cy="45720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00600"/>
            <a:ext cx="13624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4A6B"/>
                </a:solidFill>
                <a:latin typeface="Calibri"/>
              </a:rPr>
              <a:t>Dr. Anaya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05456" y="4800600"/>
            <a:ext cx="758952" cy="457200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 w="12700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05456" y="4800600"/>
            <a:ext cx="758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F8F83"/>
                </a:solidFill>
                <a:latin typeface="Calibri"/>
              </a:rPr>
              <a:t>Sam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93008" y="4800600"/>
            <a:ext cx="859536" cy="457200"/>
          </a:xfrm>
          <a:prstGeom prst="roundRect">
            <a:avLst>
              <a:gd name="adj" fmla="val 50000"/>
            </a:avLst>
          </a:prstGeom>
          <a:solidFill>
            <a:srgbClr val="F6EEDD"/>
          </a:solidFill>
          <a:ln w="1270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93008" y="4800600"/>
            <a:ext cx="85953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5822E"/>
                </a:solidFill>
                <a:latin typeface="Calibri"/>
              </a:rPr>
              <a:t>Mara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81144" y="4800600"/>
            <a:ext cx="758952" cy="457200"/>
          </a:xfrm>
          <a:prstGeom prst="roundRect">
            <a:avLst>
              <a:gd name="adj" fmla="val 50000"/>
            </a:avLst>
          </a:prstGeom>
          <a:solidFill>
            <a:srgbClr val="E6ECF4"/>
          </a:solidFill>
          <a:ln w="12700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81144" y="4800600"/>
            <a:ext cx="7589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E4A6B"/>
                </a:solidFill>
                <a:latin typeface="Calibri"/>
              </a:rPr>
              <a:t>Dev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B6470"/>
                </a:solidFill>
                <a:latin typeface="Calibri"/>
              </a:rPr>
              <a:t>Learn → Author → Carry. Private, and on every device. — ADR-033 / ADR-029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