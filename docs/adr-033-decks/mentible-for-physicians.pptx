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PATIENT CHART · INTAKE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1097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17242E"/>
                </a:solidFill>
                <a:latin typeface="Georgia"/>
              </a:rPr>
              <a:t>Hi, Dr. Anaya.
I'm Mentible.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A6A72"/>
                </a:solidFill>
                <a:latin typeface="Georgia"/>
              </a:rPr>
              <a:t>Your papers, the notes you trust, your guidance — I'll write and answer from them, in your evidence, never a chatbot's guesses.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91440" cy="1051560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16052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5C6B"/>
                </a:solidFill>
                <a:latin typeface="Consolas"/>
              </a:rPr>
              <a:t>NOTE — MENTIBLE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80559"/>
            <a:ext cx="992124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7242E"/>
                </a:solidFill>
                <a:latin typeface="Georgia"/>
              </a:rPr>
              <a:t>I answer only from the sources you give me, and I show my citations — so you verify before anything reaches a patient.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A6A72"/>
                </a:solidFill>
                <a:latin typeface="Consolas"/>
              </a:rPr>
              <a:t>PATIENT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Georgia"/>
              </a:rPr>
              <a:t>Dr. Anaya</a:t>
            </a:r>
            <a:r>
              <a:rPr sz="1200" b="0" i="0">
                <a:solidFill>
                  <a:srgbClr val="5A6A72"/>
                </a:solidFill>
                <a:latin typeface="Consolas"/>
              </a:rPr>
              <a:t>   internal-medicine physician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01 — PROBLEM 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7242E"/>
                </a:solidFill>
                <a:latin typeface="Georgia"/>
              </a:rPr>
              <a:t>Your evidence is scattered, and you can't hand a patient a guess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286000"/>
            <a:ext cx="54864" cy="1901952"/>
          </a:xfrm>
          <a:prstGeom prst="rect">
            <a:avLst/>
          </a:prstGeom>
          <a:solidFill>
            <a:srgbClr val="C04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340864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C0483C"/>
                </a:solidFill>
                <a:latin typeface="Consolas"/>
              </a:rPr>
              <a:t>▪ </a:t>
            </a:r>
            <a:r>
              <a:rPr sz="1400" b="1" i="0">
                <a:solidFill>
                  <a:srgbClr val="17242E"/>
                </a:solidFill>
                <a:latin typeface="Georgia"/>
              </a:rPr>
              <a:t>Your evidence lives everywhere.  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Guideline PDFs, papers, a drug reference, years of your notes — none of it talks to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4436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C0483C"/>
                </a:solidFill>
                <a:latin typeface="Consolas"/>
              </a:rPr>
              <a:t>▪ </a:t>
            </a:r>
            <a:r>
              <a:rPr sz="1400" b="1" i="0">
                <a:solidFill>
                  <a:srgbClr val="17242E"/>
                </a:solidFill>
                <a:latin typeface="Georgia"/>
              </a:rPr>
              <a:t>You have no time.  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Writing a handout or checking a protocol means digging through all of it, by hand.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47872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C0483C"/>
                </a:solidFill>
                <a:latin typeface="Consolas"/>
              </a:rPr>
              <a:t>▪ </a:t>
            </a:r>
            <a:r>
              <a:rPr sz="1400" b="1" i="0">
                <a:solidFill>
                  <a:srgbClr val="17242E"/>
                </a:solidFill>
                <a:latin typeface="Georgia"/>
              </a:rPr>
              <a:t>The generic chatbots?  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They sound certain, invent citations, don't answer from your sources. Not safe near a patient.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02 — GETTING STARTED · FREE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242E"/>
                </a:solidFill>
                <a:latin typeface="Georgia"/>
              </a:rPr>
              <a:t>No sign-up. Nothing leaves your laptop.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6459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A6A72"/>
                </a:solidFill>
                <a:latin typeface="Georgia"/>
              </a:rPr>
              <a:t>Install me, point me at the material you trust, and we begin — everything stays on your own 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879" y="2514600"/>
            <a:ext cx="3383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879" y="2514600"/>
            <a:ext cx="3383280" cy="54864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99" y="2743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C6B"/>
                </a:solidFill>
                <a:latin typeface="Consolas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99" y="30632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Georgia"/>
              </a:rPr>
              <a:t>Open me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99" y="34747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6A72"/>
                </a:solidFill>
                <a:latin typeface="Georgia"/>
              </a:rPr>
              <a:t>Free to start. No account, works offline.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4207" y="2514600"/>
            <a:ext cx="3383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4207" y="2514600"/>
            <a:ext cx="3383280" cy="54864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8527" y="2743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C6B"/>
                </a:solidFill>
                <a:latin typeface="Consolas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8527" y="30632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Georgia"/>
              </a:rPr>
              <a:t>Hand me your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8527" y="34747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6A72"/>
                </a:solidFill>
                <a:latin typeface="Georgia"/>
              </a:rPr>
              <a:t>Guidelines, papers, drug ref, notes — they become your knowledge library.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1535" y="2514600"/>
            <a:ext cx="33832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1535" y="2514600"/>
            <a:ext cx="3383280" cy="54864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5855" y="2743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5C6B"/>
                </a:solidFill>
                <a:latin typeface="Consolas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5855" y="30632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Georgia"/>
              </a:rPr>
              <a:t>Ask, or hand me a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5855" y="347472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A6A72"/>
                </a:solidFill>
                <a:latin typeface="Georgia"/>
              </a:rPr>
              <a:t>I answer and write from your own evidence.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63440"/>
            <a:ext cx="10515600" cy="658368"/>
          </a:xfrm>
          <a:prstGeom prst="roundRect">
            <a:avLst>
              <a:gd name="adj" fmla="val 20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6634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5C6B"/>
                </a:solidFill>
                <a:latin typeface="Consolas"/>
              </a:rPr>
              <a:t>✓ Free tier: your library stays on your device. </a:t>
            </a:r>
            <a:r>
              <a:rPr sz="1250" b="0" i="0">
                <a:solidFill>
                  <a:srgbClr val="17242E"/>
                </a:solidFill>
                <a:latin typeface="Georgia"/>
              </a:rPr>
              <a:t>What happens to a note when you ask the AI to use it → next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02b — PATIENT DATA (PHI)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242E"/>
                </a:solidFill>
                <a:latin typeface="Georgia"/>
              </a:rPr>
              <a:t>Before you add patient data — the honest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6459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A72"/>
                </a:solidFill>
                <a:latin typeface="Georgia"/>
              </a:rPr>
              <a:t>A “Case notes” tab can hold PHI. Here is exactly where it goes on each tier — so you decide, not discover.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3317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54203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8F83"/>
                </a:solidFill>
                <a:latin typeface="Consolas"/>
              </a:rPr>
              <a:t>FREE · ON YOUR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26080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Your library stays on your device. But when you ask, the relevant passage is sent to the AI model to draft the answer — so it leaves the device for that request. </a:t>
            </a:r>
            <a:r>
              <a:rPr sz="1200" b="1" i="0">
                <a:solidFill>
                  <a:srgbClr val="2F8F83"/>
                </a:solidFill>
                <a:latin typeface="Georgia"/>
              </a:rPr>
              <a:t>De-identify before entering PHI.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4203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nsolas"/>
              </a:rPr>
              <a:t>PAID · PRIVATE HOSTED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26080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Content lives on our servers — encrypted at rest, access-controlled, but not zero-knowledge. </a:t>
            </a:r>
            <a:r>
              <a:rPr sz="1200" b="1" i="0">
                <a:solidFill>
                  <a:srgbClr val="B5822E"/>
                </a:solidFill>
                <a:latin typeface="Georgia"/>
              </a:rPr>
              <a:t>A signed BAA is required before entering PHI. No BAA yet → don't enter identifiable patient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63440"/>
            <a:ext cx="10515600" cy="658368"/>
          </a:xfrm>
          <a:prstGeom prst="roundRect">
            <a:avLst>
              <a:gd name="adj" fmla="val 20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634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5C6B"/>
                </a:solidFill>
                <a:latin typeface="Consolas"/>
              </a:rPr>
              <a:t>We'd rather tell you this up front </a:t>
            </a:r>
            <a:r>
              <a:rPr sz="1250" b="0" i="0">
                <a:solidFill>
                  <a:srgbClr val="17242E"/>
                </a:solidFill>
                <a:latin typeface="Georgia"/>
              </a:rPr>
              <a:t>than have you find out in an audit. Source transparency + your review — you stay the decider.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03 — YOUR KNOWLEDGE LIBRARY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242E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5544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A6A72"/>
                </a:solidFill>
                <a:latin typeface="Georgia"/>
              </a:rPr>
              <a:t>Not my memory — </a:t>
            </a:r>
            <a:r>
              <a:rPr sz="1300" b="1" i="1">
                <a:solidFill>
                  <a:srgbClr val="17242E"/>
                </a:solidFill>
                <a:latin typeface="Georgia"/>
              </a:rPr>
              <a:t>yours</a:t>
            </a:r>
            <a:r>
              <a:rPr sz="1300" b="0" i="0">
                <a:solidFill>
                  <a:srgbClr val="5A6A72"/>
                </a:solidFill>
                <a:latin typeface="Georgia"/>
              </a:rPr>
              <a:t>. The sources you chose and trust, filed in one chart I've read cover to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468880"/>
            <a:ext cx="6949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F5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2468880"/>
            <a:ext cx="6949440" cy="457200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46888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CHART — YOUR PRACTICE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026664"/>
            <a:ext cx="1737360" cy="256032"/>
          </a:xfrm>
          <a:prstGeom prst="roundRect">
            <a:avLst>
              <a:gd name="adj" fmla="val 20000"/>
            </a:avLst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3026664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Guidelines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328416"/>
            <a:ext cx="6400800" cy="13716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971800"/>
            <a:ext cx="6309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Guidelines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410712"/>
            <a:ext cx="1737360" cy="256032"/>
          </a:xfrm>
          <a:prstGeom prst="roundRect">
            <a:avLst>
              <a:gd name="adj" fmla="val 2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3410712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Journal papers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712463"/>
            <a:ext cx="6400800" cy="13716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3355848"/>
            <a:ext cx="6309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Journal papers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3794759"/>
            <a:ext cx="1737360" cy="256032"/>
          </a:xfrm>
          <a:prstGeom prst="roundRect">
            <a:avLst>
              <a:gd name="adj" fmla="val 2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3794759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Drug reference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096511"/>
            <a:ext cx="6400800" cy="13716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739896"/>
            <a:ext cx="6309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Drug reference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178807"/>
            <a:ext cx="1737360" cy="256032"/>
          </a:xfrm>
          <a:prstGeom prst="roundRect">
            <a:avLst>
              <a:gd name="adj" fmla="val 2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0848" y="4178807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Case notes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480559"/>
            <a:ext cx="6400800" cy="13716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4123944"/>
            <a:ext cx="6309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Case notes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4562855"/>
            <a:ext cx="1737360" cy="256032"/>
          </a:xfrm>
          <a:prstGeom prst="roundRect">
            <a:avLst>
              <a:gd name="adj" fmla="val 20000"/>
            </a:avLst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0848" y="4562855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Society updates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4864607"/>
            <a:ext cx="6400800" cy="13716"/>
          </a:xfrm>
          <a:prstGeom prst="rect">
            <a:avLst/>
          </a:prstGeom>
          <a:solidFill>
            <a:srgbClr val="D9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4507992"/>
            <a:ext cx="6309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Georgia"/>
              </a:rPr>
              <a:t>Society updates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A72"/>
                </a:solidFill>
                <a:latin typeface="Georgia"/>
              </a:rPr>
              <a:t>Every tab here, you filed. That's the point — I work from your chart, not the web's.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04 — HOW I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7242E"/>
                </a:solidFill>
                <a:latin typeface="Georgia"/>
              </a:rPr>
              <a:t>I read your chart first — then I answer, citing your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288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A72"/>
                </a:solidFill>
                <a:latin typeface="Georgia"/>
              </a:rPr>
              <a:t>Ask me a question or hand me a draft. I don't guess: I </a:t>
            </a:r>
            <a:r>
              <a:rPr sz="1250" b="1" i="0">
                <a:solidFill>
                  <a:srgbClr val="17242E"/>
                </a:solidFill>
                <a:latin typeface="Georgia"/>
              </a:rPr>
              <a:t>find the relevant passages in your library first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, then write grounded in them — and show which of your sources I used.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514600"/>
            <a:ext cx="54864" cy="1901952"/>
          </a:xfrm>
          <a:prstGeom prst="rect">
            <a:avLst/>
          </a:prstGeom>
          <a:solidFill>
            <a:srgbClr val="C04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569464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C0483C"/>
                </a:solidFill>
                <a:latin typeface="Consolas"/>
              </a:rPr>
              <a:t>▪ </a:t>
            </a:r>
            <a:r>
              <a:rPr sz="1400" b="1" i="0">
                <a:solidFill>
                  <a:srgbClr val="17242E"/>
                </a:solidFill>
                <a:latin typeface="Georgia"/>
              </a:rPr>
              <a:t>YOU ASK:  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“Draft a patient handout on starting a DOAC — plain language.”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7296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C0483C"/>
                </a:solidFill>
                <a:latin typeface="Consolas"/>
              </a:rPr>
              <a:t>▪ </a:t>
            </a:r>
            <a:r>
              <a:rPr sz="1400" b="1" i="0">
                <a:solidFill>
                  <a:srgbClr val="17242E"/>
                </a:solidFill>
                <a:latin typeface="Georgia"/>
              </a:rPr>
              <a:t>I RETRIEVE:  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I find the exact passages in your anticoagulation guideline &amp; drug reference.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76472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C0483C"/>
                </a:solidFill>
                <a:latin typeface="Consolas"/>
              </a:rPr>
              <a:t>▪ </a:t>
            </a:r>
            <a:r>
              <a:rPr sz="1400" b="1" i="0">
                <a:solidFill>
                  <a:srgbClr val="17242E"/>
                </a:solidFill>
                <a:latin typeface="Georgia"/>
              </a:rPr>
              <a:t>I ANSWER:  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A handout from your evidence, citing your sources — ready to check &amp; hand 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452628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4560" y="4526280"/>
            <a:ext cx="91440" cy="914400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70916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5C6B"/>
                </a:solidFill>
                <a:latin typeface="Consolas"/>
              </a:rPr>
              <a:t>NOTE — HOW TO THINK OF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0292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7242E"/>
                </a:solidFill>
                <a:latin typeface="Georgia"/>
              </a:rPr>
              <a:t>Like a diligent resident: it works from your sources and shows its citations — you verify before you sign 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62356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C0483C"/>
                </a:solidFill>
                <a:latin typeface="Consolas"/>
              </a:rPr>
              <a:t>PROOF (your data here): retrieved passage matched the cited source in __% of N test queries · physician-reviewed.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05 — BEYOND YOUR SHELF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7242E"/>
                </a:solidFill>
                <a:latin typeface="Georgia"/>
              </a:rPr>
              <a:t>Your knowledge library can outgrow your physical shelf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5544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A6A72"/>
                </a:solidFill>
                <a:latin typeface="Georgia"/>
              </a:rPr>
              <a:t>I can pull authoritative reference and public-domain texts into your knowledge library from </a:t>
            </a:r>
            <a:r>
              <a:rPr sz="1250" b="1" i="0">
                <a:solidFill>
                  <a:srgbClr val="17242E"/>
                </a:solidFill>
                <a:latin typeface="Georgia"/>
              </a:rPr>
              <a:t>curated catalogs</a:t>
            </a:r>
            <a:r>
              <a:rPr sz="1250" b="0" i="0">
                <a:solidFill>
                  <a:srgbClr val="5A6A72"/>
                </a:solidFill>
                <a:latin typeface="Georgia"/>
              </a:rPr>
              <a:t> — then ground every answer at a physician's depth.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468880"/>
            <a:ext cx="4206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697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Georgia"/>
              </a:rPr>
              <a:t>What you bring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15468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15468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onsolas"/>
              </a:rPr>
              <a:t>guidelines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154680"/>
            <a:ext cx="822960" cy="365760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15468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onsolas"/>
              </a:rPr>
              <a:t>papers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31546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15468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onsolas"/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468880"/>
            <a:ext cx="9144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5A6A72"/>
                </a:solidFill>
                <a:latin typeface="Consolas"/>
              </a:rPr>
              <a:t>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468880"/>
            <a:ext cx="4206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9" y="2697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Georgia"/>
              </a:rPr>
              <a:t>What I pull 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59" y="315468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59" y="315468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onsolas"/>
              </a:rPr>
              <a:t>reference texts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3154680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 w="12700">
            <a:solidFill>
              <a:srgbClr val="D9E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15468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onsolas"/>
              </a:rPr>
              <a:t>curated catalogs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7040880" cy="822960"/>
          </a:xfrm>
          <a:prstGeom prst="roundRect">
            <a:avLst>
              <a:gd name="adj" fmla="val 20000"/>
            </a:avLst>
          </a:prstGeom>
          <a:solidFill>
            <a:srgbClr val="E4F0F1"/>
          </a:solidFill>
          <a:ln w="15875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4434840"/>
            <a:ext cx="6675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5C6B"/>
                </a:solidFill>
                <a:latin typeface="Georgia"/>
              </a:rPr>
              <a:t>= one knowledge library  </a:t>
            </a:r>
            <a:r>
              <a:rPr sz="1250" b="0" i="0">
                <a:solidFill>
                  <a:srgbClr val="17242E"/>
                </a:solidFill>
                <a:latin typeface="Georgia"/>
              </a:rPr>
              <a:t>— broader than your shelf, still curated, still private.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1">
                <a:solidFill>
                  <a:srgbClr val="5A6A72"/>
                </a:solidFill>
                <a:latin typeface="Georgia"/>
              </a:rPr>
              <a:t>Reference texts are general background, labeled — never a substitute for a current guideline. Every answer shows which of your sources it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18288"/>
          </a:xfrm>
          <a:prstGeom prst="rect">
            <a:avLst/>
          </a:prstGeom>
          <a:solidFill>
            <a:srgbClr val="BE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0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5C6B"/>
                </a:solidFill>
                <a:latin typeface="Consolas"/>
              </a:rPr>
              <a:t>MENTIBLE CLINICAL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0"/>
            <a:ext cx="539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A72"/>
                </a:solidFill>
                <a:latin typeface="Consolas"/>
              </a:rPr>
              <a:t>SECTION 06 — PLAN · UPGRADE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0" y="329184"/>
            <a:ext cx="590702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49102" y="329184"/>
            <a:ext cx="104242" cy="9143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3344" y="310896"/>
            <a:ext cx="86868" cy="109727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840212" y="18287"/>
            <a:ext cx="69494" cy="292609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09706" y="18287"/>
            <a:ext cx="86868" cy="438913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96574" y="329184"/>
            <a:ext cx="86868" cy="128016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83442" y="329184"/>
            <a:ext cx="712318" cy="0"/>
          </a:xfrm>
          <a:prstGeom prst="line">
            <a:avLst/>
          </a:prstGeom>
          <a:ln w="22225">
            <a:solidFill>
              <a:srgbClr val="C048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9601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7242E"/>
                </a:solidFill>
                <a:latin typeface="Georgia"/>
              </a:rPr>
              <a:t>Take me everywhere — at the bedside, not just the desk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37360"/>
            <a:ext cx="10515600" cy="3108960"/>
          </a:xfrm>
          <a:prstGeom prst="roundRect">
            <a:avLst>
              <a:gd name="adj" fmla="val 4000"/>
            </a:avLst>
          </a:prstGeom>
          <a:solidFill>
            <a:srgbClr val="F6EEDD"/>
          </a:solidFill>
          <a:ln w="15875">
            <a:solidFill>
              <a:srgbClr val="E4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011680"/>
            <a:ext cx="9784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1">
                <a:solidFill>
                  <a:srgbClr val="17242E"/>
                </a:solidFill>
                <a:latin typeface="Georgia"/>
              </a:rPr>
              <a:t>One day you'll want your knowledge library not at your desk, but at the bedside — the ward tablet, the clinic PC, your phone. That's when you'll upgrade 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260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Georgia"/>
              </a:rPr>
              <a:t>› </a:t>
            </a:r>
            <a:r>
              <a:rPr sz="1300" b="1" i="0">
                <a:solidFill>
                  <a:srgbClr val="17242E"/>
                </a:solidFill>
                <a:latin typeface="Georgia"/>
              </a:rPr>
              <a:t>One private library, every device </a:t>
            </a:r>
            <a:r>
              <a:rPr sz="1250" b="0" i="0">
                <a:solidFill>
                  <a:srgbClr val="17242E"/>
                </a:solidFill>
                <a:latin typeface="Georgia"/>
              </a:rPr>
              <a:t>— I carry your whole knowledge library and its search across your devices, in 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832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Georgia"/>
              </a:rPr>
              <a:t>› </a:t>
            </a:r>
            <a:r>
              <a:rPr sz="1300" b="1" i="0">
                <a:solidFill>
                  <a:srgbClr val="17242E"/>
                </a:solidFill>
                <a:latin typeface="Georgia"/>
              </a:rPr>
              <a:t>Search everything, anywhere </a:t>
            </a:r>
            <a:r>
              <a:rPr sz="1250" b="0" i="0">
                <a:solidFill>
                  <a:srgbClr val="17242E"/>
                </a:solidFill>
                <a:latin typeface="Georgia"/>
              </a:rPr>
              <a:t>— “where did I cover this?” answered from your full library, at the point of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0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Georgia"/>
              </a:rPr>
              <a:t>› </a:t>
            </a:r>
            <a:r>
              <a:rPr sz="1300" b="1" i="0">
                <a:solidFill>
                  <a:srgbClr val="17242E"/>
                </a:solidFill>
                <a:latin typeface="Georgia"/>
              </a:rPr>
              <a:t>Still yours alone </a:t>
            </a:r>
            <a:r>
              <a:rPr sz="1250" b="0" i="0">
                <a:solidFill>
                  <a:srgbClr val="17242E"/>
                </a:solidFill>
                <a:latin typeface="Georgia"/>
              </a:rPr>
              <a:t>— private, encrypted, never shared, never used to profile you or your patients.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80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A6A72"/>
                </a:solidFill>
                <a:latin typeface="Georgia"/>
              </a:rPr>
              <a:t>Upgrading makes me a private hosted library that follows you. The free device-only version stays as it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97280" y="1554480"/>
            <a:ext cx="3388766" cy="0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6046" y="1554480"/>
            <a:ext cx="598018" cy="91440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084064" y="1536192"/>
            <a:ext cx="498348" cy="109728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582412" y="1243584"/>
            <a:ext cx="398678" cy="292608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81090" y="1243584"/>
            <a:ext cx="498348" cy="438911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79438" y="1554480"/>
            <a:ext cx="498348" cy="128015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77786" y="1554480"/>
            <a:ext cx="4086454" cy="0"/>
          </a:xfrm>
          <a:prstGeom prst="line">
            <a:avLst/>
          </a:prstGeom>
          <a:ln w="22225">
            <a:solidFill>
              <a:srgbClr val="BEDD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DDDF"/>
                </a:solidFill>
                <a:latin typeface="Consolas"/>
              </a:rPr>
              <a:t>ASSESSMENT &amp; PLAN — MY PROMISE TO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10058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Give me what you already keep, and I'll hand you back a patient handout — grounded in evidence you trust — at the bedside, in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DDDF"/>
                </a:solidFill>
                <a:latin typeface="Consolas"/>
              </a:rPr>
              <a:t>Free on your device · paid across every device. Learn → Author → Carry, privately.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