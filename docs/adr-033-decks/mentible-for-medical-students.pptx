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105156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1527048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2002536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2478024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2953512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342900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390448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437997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4855463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5330951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5806439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440" y="628192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675741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0"/>
            <a:ext cx="25400" cy="6858000"/>
          </a:xfrm>
          <a:prstGeom prst="rect">
            <a:avLst/>
          </a:prstGeom>
          <a:solidFill>
            <a:srgbClr val="D9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365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4048" y="822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4048" y="1280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" y="1737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" y="2194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" y="2651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4048" y="3108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" y="3566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4048" y="4023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4480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4937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5394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4048" y="5852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6309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" y="384048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3840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840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5B"/>
                </a:solidFill>
                <a:latin typeface="Consolas"/>
              </a:rPr>
              <a:t>MY NOTES — DAY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11430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21302B"/>
                </a:solidFill>
                <a:latin typeface="Georgia"/>
              </a:rPr>
              <a:t>Hi, Sam.
I'm Mentible.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306324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5E6E66"/>
                </a:solidFill>
                <a:latin typeface="Calibri"/>
              </a:rPr>
              <a:t>Your textbooks, the notes you actually understand, your slides — I'll explain and quiz from them, at your level, never a chatbot's guesses.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17320" y="4114800"/>
            <a:ext cx="10058400" cy="91440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 w="15875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0" y="4279392"/>
            <a:ext cx="9509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E7D5B"/>
                </a:solidFill>
                <a:latin typeface="Consolas"/>
              </a:rPr>
              <a:t>STUDY BUDDY NOTE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4572000"/>
            <a:ext cx="9464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1302B"/>
                </a:solidFill>
                <a:latin typeface="Georgia"/>
              </a:rPr>
              <a:t>Give me your course material and I'll turn it into things you actually get — and quizzes that match your exam.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349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6E66"/>
                </a:solidFill>
                <a:latin typeface="Consolas"/>
              </a:rPr>
              <a:t>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302B"/>
                </a:solidFill>
                <a:latin typeface="Calibri"/>
              </a:rPr>
              <a:t>Sam</a:t>
            </a:r>
            <a:r>
              <a:rPr sz="1200" b="0" i="0">
                <a:solidFill>
                  <a:srgbClr val="5E6E66"/>
                </a:solidFill>
                <a:latin typeface="Calibri"/>
              </a:rPr>
              <a:t>  ·  second-year medical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105156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1527048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2002536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2478024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2953512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342900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390448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437997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4855463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5330951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5806439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440" y="628192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675741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0"/>
            <a:ext cx="25400" cy="6858000"/>
          </a:xfrm>
          <a:prstGeom prst="rect">
            <a:avLst/>
          </a:prstGeom>
          <a:solidFill>
            <a:srgbClr val="D9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365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4048" y="822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4048" y="1280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" y="1737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" y="2194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" y="2651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4048" y="3108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" y="3566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4048" y="4023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4480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4937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5394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4048" y="5852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6309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" y="384048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3840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840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5B"/>
                </a:solidFill>
                <a:latin typeface="Consolas"/>
              </a:rPr>
              <a:t>THE PROBLEM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1207007"/>
            <a:ext cx="9217152" cy="502920"/>
          </a:xfrm>
          <a:prstGeom prst="roundRect">
            <a:avLst>
              <a:gd name="adj" fmla="val 50000"/>
            </a:avLst>
          </a:prstGeom>
          <a:solidFill>
            <a:srgbClr val="F4E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1097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21302B"/>
                </a:solidFill>
                <a:latin typeface="Georgia"/>
              </a:rPr>
              <a:t>Your material's everywhere, and generic AI won't pass your exam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2331720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Calibri"/>
              </a:rPr>
              <a:t>✔ </a:t>
            </a:r>
            <a:r>
              <a:rPr sz="1400" b="1" i="0">
                <a:solidFill>
                  <a:srgbClr val="21302B"/>
                </a:solidFill>
                <a:latin typeface="Calibri"/>
              </a:rPr>
              <a:t>Your material lives everywhere.  </a:t>
            </a:r>
            <a:r>
              <a:rPr sz="1250" b="0" i="0">
                <a:solidFill>
                  <a:srgbClr val="5E6E66"/>
                </a:solidFill>
                <a:latin typeface="Calibri"/>
              </a:rPr>
              <a:t>Textbooks, lecture slides, scattered notes, past papers — none of it talks to each other.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2971800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Calibri"/>
              </a:rPr>
              <a:t>✔ </a:t>
            </a:r>
            <a:r>
              <a:rPr sz="1400" b="1" i="0">
                <a:solidFill>
                  <a:srgbClr val="21302B"/>
                </a:solidFill>
                <a:latin typeface="Calibri"/>
              </a:rPr>
              <a:t>You revise against the clock.  </a:t>
            </a:r>
            <a:r>
              <a:rPr sz="1250" b="0" i="0">
                <a:solidFill>
                  <a:srgbClr val="5E6E66"/>
                </a:solidFill>
                <a:latin typeface="Calibri"/>
              </a:rPr>
              <a:t>Exams don't wait, and re-reading whole chapters isn't studying.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3611880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Calibri"/>
              </a:rPr>
              <a:t>✔ </a:t>
            </a:r>
            <a:r>
              <a:rPr sz="1400" b="1" i="0">
                <a:solidFill>
                  <a:srgbClr val="21302B"/>
                </a:solidFill>
                <a:latin typeface="Calibri"/>
              </a:rPr>
              <a:t>The generic chatbots?  </a:t>
            </a:r>
            <a:r>
              <a:rPr sz="1250" b="0" i="0">
                <a:solidFill>
                  <a:srgbClr val="5E6E66"/>
                </a:solidFill>
                <a:latin typeface="Calibri"/>
              </a:rPr>
              <a:t>They give web answers, not what YOUR course teaches. Wrong level, wrong syllabus.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105156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1527048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2002536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2478024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2953512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342900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390448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437997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4855463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5330951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5806439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440" y="628192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675741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0"/>
            <a:ext cx="25400" cy="6858000"/>
          </a:xfrm>
          <a:prstGeom prst="rect">
            <a:avLst/>
          </a:prstGeom>
          <a:solidFill>
            <a:srgbClr val="D9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365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4048" y="822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4048" y="1280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" y="1737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" y="2194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" y="2651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4048" y="3108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" y="3566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4048" y="4023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4480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4937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5394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4048" y="5852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6309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" y="384048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3840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840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5B"/>
                </a:solidFill>
                <a:latin typeface="Consolas"/>
              </a:rPr>
              <a:t>GETTING STARTED — FREE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1207007"/>
            <a:ext cx="5413248" cy="502920"/>
          </a:xfrm>
          <a:prstGeom prst="roundRect">
            <a:avLst>
              <a:gd name="adj" fmla="val 50000"/>
            </a:avLst>
          </a:prstGeom>
          <a:solidFill>
            <a:srgbClr val="F4E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1097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21302B"/>
                </a:solidFill>
                <a:latin typeface="Georgia"/>
              </a:rPr>
              <a:t>No sign-up. Start on your own device.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19659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E6E66"/>
                </a:solidFill>
                <a:latin typeface="Calibri"/>
              </a:rPr>
              <a:t>Install me, point me at your course material, and we start — your library stays on your own device.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2606040"/>
            <a:ext cx="32918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73352" y="28163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7D5B"/>
                </a:solidFill>
                <a:latin typeface="Consolas"/>
              </a:rPr>
              <a:t>STEP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73352" y="31272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1302B"/>
                </a:solidFill>
                <a:latin typeface="Georgia"/>
              </a:rPr>
              <a:t>Open me 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73352" y="35204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E6E66"/>
                </a:solidFill>
                <a:latin typeface="Calibri"/>
              </a:rPr>
              <a:t>Free to start. No account, works offline.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2606040"/>
            <a:ext cx="32918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85232" y="28163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7D5B"/>
                </a:solidFill>
                <a:latin typeface="Consolas"/>
              </a:rPr>
              <a:t>STEP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5232" y="31272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1302B"/>
                </a:solidFill>
                <a:latin typeface="Georgia"/>
              </a:rPr>
              <a:t>Hand me your material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5232" y="35204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E6E66"/>
                </a:solidFill>
                <a:latin typeface="Calibri"/>
              </a:rPr>
              <a:t>Textbooks, slides, notes, past papers — they become your knowledge library.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2606040"/>
            <a:ext cx="32918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97112" y="28163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7D5B"/>
                </a:solidFill>
                <a:latin typeface="Consolas"/>
              </a:rPr>
              <a:t>STEP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7112" y="31272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1302B"/>
                </a:solidFill>
                <a:latin typeface="Georgia"/>
              </a:rPr>
              <a:t>Ask, or test yourself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7112" y="35204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E6E66"/>
                </a:solidFill>
                <a:latin typeface="Calibri"/>
              </a:rPr>
              <a:t>I explain and quiz you from your own course.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17320" y="4617720"/>
            <a:ext cx="10058400" cy="640080"/>
          </a:xfrm>
          <a:prstGeom prst="roundRect">
            <a:avLst>
              <a:gd name="adj" fmla="val 20000"/>
            </a:avLst>
          </a:prstGeom>
          <a:solidFill>
            <a:srgbClr val="E6F1EB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7360" y="4617720"/>
            <a:ext cx="9509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Calibri"/>
              </a:rPr>
              <a:t>✔ Free tier: your notes stay on your device. </a:t>
            </a:r>
            <a:r>
              <a:rPr sz="1150" b="0" i="0">
                <a:solidFill>
                  <a:srgbClr val="21302B"/>
                </a:solidFill>
                <a:latin typeface="Calibri"/>
              </a:rPr>
              <a:t>When you ask, the relevant passage is sent to the AI to draft — used once, not stored by 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4048" y="365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822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" y="1280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4048" y="1737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" y="2194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84048" y="2651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4048" y="3108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4048" y="3566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4048" y="4023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048" y="4480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4048" y="4937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4048" y="5394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4048" y="5852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4048" y="6309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17320" y="384048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840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840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5B"/>
                </a:solidFill>
                <a:latin typeface="Consolas"/>
              </a:rPr>
              <a:t>YOUR KNOWLEDGE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1097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1302B"/>
                </a:solidFill>
                <a:latin typeface="Georgia"/>
              </a:rPr>
              <a:t>This becomes your knowledge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1691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5E6E66"/>
                </a:solidFill>
                <a:latin typeface="Calibri"/>
              </a:rPr>
              <a:t>Not my memory — </a:t>
            </a:r>
            <a:r>
              <a:rPr sz="1300" b="1" i="1">
                <a:solidFill>
                  <a:srgbClr val="21302B"/>
                </a:solidFill>
                <a:latin typeface="Calibri"/>
              </a:rPr>
              <a:t>yours</a:t>
            </a:r>
            <a:r>
              <a:rPr sz="1300" b="0" i="0">
                <a:solidFill>
                  <a:srgbClr val="5E6E66"/>
                </a:solidFill>
                <a:latin typeface="Calibri"/>
              </a:rPr>
              <a:t>. The exact material your course is built on — I've read it all. Like your deck of cards:</a:t>
            </a:r>
          </a:p>
        </p:txBody>
      </p:sp>
      <p:sp>
        <p:nvSpPr>
          <p:cNvPr id="22" name="Rounded Rectangle 21"/>
          <p:cNvSpPr/>
          <p:nvPr/>
        </p:nvSpPr>
        <p:spPr>
          <a:xfrm rot="21120000">
            <a:off x="2377440" y="288036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1120000">
            <a:off x="2377440" y="2880360"/>
            <a:ext cx="2011680" cy="457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 rot="21120000">
            <a:off x="2514600" y="295351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Anatomy</a:t>
            </a:r>
          </a:p>
        </p:txBody>
      </p:sp>
      <p:sp>
        <p:nvSpPr>
          <p:cNvPr id="25" name="TextBox 24"/>
          <p:cNvSpPr txBox="1"/>
          <p:nvPr/>
        </p:nvSpPr>
        <p:spPr>
          <a:xfrm rot="21120000">
            <a:off x="2514600" y="3749039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E66"/>
                </a:solidFill>
                <a:latin typeface="Calibri"/>
              </a:rPr>
              <a:t>the body, mapped</a:t>
            </a:r>
          </a:p>
        </p:txBody>
      </p:sp>
      <p:sp>
        <p:nvSpPr>
          <p:cNvPr id="26" name="Rounded Rectangle 25"/>
          <p:cNvSpPr/>
          <p:nvPr/>
        </p:nvSpPr>
        <p:spPr>
          <a:xfrm rot="21360000">
            <a:off x="3977639" y="288036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1360000">
            <a:off x="3977639" y="2880360"/>
            <a:ext cx="2011680" cy="4572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 rot="21360000">
            <a:off x="4114800" y="295351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Pharm</a:t>
            </a:r>
          </a:p>
        </p:txBody>
      </p:sp>
      <p:sp>
        <p:nvSpPr>
          <p:cNvPr id="29" name="TextBox 28"/>
          <p:cNvSpPr txBox="1"/>
          <p:nvPr/>
        </p:nvSpPr>
        <p:spPr>
          <a:xfrm rot="21360000">
            <a:off x="4114800" y="3749039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E66"/>
                </a:solidFill>
                <a:latin typeface="Calibri"/>
              </a:rPr>
              <a:t>drugs &amp; doses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288036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77840" y="2880360"/>
            <a:ext cx="2011680" cy="457200"/>
          </a:xfrm>
          <a:prstGeom prst="rect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295351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Physiology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749039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E66"/>
                </a:solidFill>
                <a:latin typeface="Calibri"/>
              </a:rPr>
              <a:t>how it works</a:t>
            </a:r>
          </a:p>
        </p:txBody>
      </p:sp>
      <p:sp>
        <p:nvSpPr>
          <p:cNvPr id="34" name="Rounded Rectangle 33"/>
          <p:cNvSpPr/>
          <p:nvPr/>
        </p:nvSpPr>
        <p:spPr>
          <a:xfrm rot="240000">
            <a:off x="7178040" y="288036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5D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40000">
            <a:off x="7178040" y="2880360"/>
            <a:ext cx="2011680" cy="457200"/>
          </a:xfrm>
          <a:prstGeom prst="rect">
            <a:avLst/>
          </a:prstGeom>
          <a:solidFill>
            <a:srgbClr val="A85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 rot="240000">
            <a:off x="7315200" y="295351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Past papers</a:t>
            </a:r>
          </a:p>
        </p:txBody>
      </p:sp>
      <p:sp>
        <p:nvSpPr>
          <p:cNvPr id="37" name="TextBox 36"/>
          <p:cNvSpPr txBox="1"/>
          <p:nvPr/>
        </p:nvSpPr>
        <p:spPr>
          <a:xfrm rot="240000">
            <a:off x="7315200" y="3749039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E66"/>
                </a:solidFill>
                <a:latin typeface="Calibri"/>
              </a:rPr>
              <a:t>what they ask</a:t>
            </a:r>
          </a:p>
        </p:txBody>
      </p:sp>
      <p:sp>
        <p:nvSpPr>
          <p:cNvPr id="38" name="Rounded Rectangle 37"/>
          <p:cNvSpPr/>
          <p:nvPr/>
        </p:nvSpPr>
        <p:spPr>
          <a:xfrm rot="480000">
            <a:off x="8778240" y="2880360"/>
            <a:ext cx="2011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6B4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480000">
            <a:off x="8778240" y="2880360"/>
            <a:ext cx="2011680" cy="457200"/>
          </a:xfrm>
          <a:prstGeom prst="rect">
            <a:avLst/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 rot="480000">
            <a:off x="8915400" y="295351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Your notes</a:t>
            </a:r>
          </a:p>
        </p:txBody>
      </p:sp>
      <p:sp>
        <p:nvSpPr>
          <p:cNvPr id="41" name="TextBox 40"/>
          <p:cNvSpPr txBox="1"/>
          <p:nvPr/>
        </p:nvSpPr>
        <p:spPr>
          <a:xfrm rot="480000">
            <a:off x="8915400" y="3749039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E66"/>
                </a:solidFill>
                <a:latin typeface="Calibri"/>
              </a:rPr>
              <a:t>in your words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44068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E6E66"/>
                </a:solidFill>
                <a:latin typeface="Calibri"/>
              </a:rPr>
              <a:t>Every card here, you made. That's the point — I study from your syllabus, not the web's.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105156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1527048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2002536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2478024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2953512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342900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390448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437997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4855463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5330951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5806439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440" y="628192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675741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0"/>
            <a:ext cx="25400" cy="6858000"/>
          </a:xfrm>
          <a:prstGeom prst="rect">
            <a:avLst/>
          </a:prstGeom>
          <a:solidFill>
            <a:srgbClr val="D9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365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4048" y="822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4048" y="1280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" y="1737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" y="2194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" y="2651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4048" y="3108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" y="3566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4048" y="4023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4480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4937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5394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4048" y="5852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6309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" y="384048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3840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840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5B"/>
                </a:solidFill>
                <a:latin typeface="Consolas"/>
              </a:rPr>
              <a:t>HOW I ACTUALLY 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1207007"/>
            <a:ext cx="8046720" cy="502920"/>
          </a:xfrm>
          <a:prstGeom prst="roundRect">
            <a:avLst>
              <a:gd name="adj" fmla="val 50000"/>
            </a:avLst>
          </a:prstGeom>
          <a:solidFill>
            <a:srgbClr val="F4E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1097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21302B"/>
                </a:solidFill>
                <a:latin typeface="Georgia"/>
              </a:rPr>
              <a:t>I read your material first — then answer, at your level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196596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E6E66"/>
                </a:solidFill>
                <a:latin typeface="Calibri"/>
              </a:rPr>
              <a:t>Ask me anything, or ask me to quiz you. I don't guess: I </a:t>
            </a:r>
            <a:r>
              <a:rPr sz="1250" b="1" i="0">
                <a:solidFill>
                  <a:srgbClr val="21302B"/>
                </a:solidFill>
                <a:latin typeface="Calibri"/>
              </a:rPr>
              <a:t>find the passages in your material first</a:t>
            </a:r>
            <a:r>
              <a:rPr sz="1250" b="0" i="0">
                <a:solidFill>
                  <a:srgbClr val="5E6E66"/>
                </a:solidFill>
                <a:latin typeface="Calibri"/>
              </a:rPr>
              <a:t>, then explain or test you from them.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2606040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Calibri"/>
              </a:rPr>
              <a:t>✔ </a:t>
            </a:r>
            <a:r>
              <a:rPr sz="1400" b="1" i="0">
                <a:solidFill>
                  <a:srgbClr val="21302B"/>
                </a:solidFill>
                <a:latin typeface="Calibri"/>
              </a:rPr>
              <a:t>YOU ASK:  </a:t>
            </a:r>
            <a:r>
              <a:rPr sz="1250" b="0" i="0">
                <a:solidFill>
                  <a:srgbClr val="5E6E66"/>
                </a:solidFill>
                <a:latin typeface="Calibri"/>
              </a:rPr>
              <a:t>“Explain the RAAS cascade — then quiz me on it.”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3246120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Calibri"/>
              </a:rPr>
              <a:t>✔ </a:t>
            </a:r>
            <a:r>
              <a:rPr sz="1400" b="1" i="0">
                <a:solidFill>
                  <a:srgbClr val="21302B"/>
                </a:solidFill>
                <a:latin typeface="Calibri"/>
              </a:rPr>
              <a:t>I RETRIEVE:  </a:t>
            </a:r>
            <a:r>
              <a:rPr sz="1250" b="0" i="0">
                <a:solidFill>
                  <a:srgbClr val="5E6E66"/>
                </a:solidFill>
                <a:latin typeface="Calibri"/>
              </a:rPr>
              <a:t>I find the exact section in your physiology text &amp; lecture slides.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3886200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Calibri"/>
              </a:rPr>
              <a:t>✔ </a:t>
            </a:r>
            <a:r>
              <a:rPr sz="1400" b="1" i="0">
                <a:solidFill>
                  <a:srgbClr val="21302B"/>
                </a:solidFill>
                <a:latin typeface="Calibri"/>
              </a:rPr>
              <a:t>I ANSWER:  </a:t>
            </a:r>
            <a:r>
              <a:rPr sz="1250" b="0" i="0">
                <a:solidFill>
                  <a:srgbClr val="5E6E66"/>
                </a:solidFill>
                <a:latin typeface="Calibri"/>
              </a:rPr>
              <a:t>A clear explanation + a quiz built from your own material — not generic web content.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94560" y="4709160"/>
            <a:ext cx="7772400" cy="960120"/>
          </a:xfrm>
          <a:prstGeom prst="roundRect">
            <a:avLst>
              <a:gd name="adj" fmla="val 10000"/>
            </a:avLst>
          </a:prstGeom>
          <a:solidFill>
            <a:srgbClr val="E6F1EB"/>
          </a:solidFill>
          <a:ln w="15875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4873752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E7D5B"/>
                </a:solidFill>
                <a:latin typeface="Consolas"/>
              </a:rPr>
              <a:t>STUDY BUDDY 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5166360"/>
            <a:ext cx="7178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1302B"/>
                </a:solidFill>
                <a:latin typeface="Georgia"/>
              </a:rPr>
              <a:t>I'm the study partner who's read your whole syllabus and only tests you on what's actually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105156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1527048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2002536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2478024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2953512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342900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390448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437997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4855463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5330951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5806439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440" y="628192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675741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0"/>
            <a:ext cx="25400" cy="6858000"/>
          </a:xfrm>
          <a:prstGeom prst="rect">
            <a:avLst/>
          </a:prstGeom>
          <a:solidFill>
            <a:srgbClr val="D9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365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4048" y="822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4048" y="1280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" y="1737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" y="2194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" y="2651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4048" y="3108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" y="3566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4048" y="4023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4480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4937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5394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4048" y="5852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6309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" y="384048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3840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840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5B"/>
                </a:solidFill>
                <a:latin typeface="Consolas"/>
              </a:rPr>
              <a:t>BIGGER THAN YOUR READING LIST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1207007"/>
            <a:ext cx="7607808" cy="502920"/>
          </a:xfrm>
          <a:prstGeom prst="roundRect">
            <a:avLst>
              <a:gd name="adj" fmla="val 50000"/>
            </a:avLst>
          </a:prstGeom>
          <a:solidFill>
            <a:srgbClr val="F4E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1097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21302B"/>
                </a:solidFill>
                <a:latin typeface="Georgia"/>
              </a:rPr>
              <a:t>Your knowledge library can outgrow your reading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1965960"/>
            <a:ext cx="10241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5E6E66"/>
                </a:solidFill>
                <a:latin typeface="Calibri"/>
              </a:rPr>
              <a:t>You're not limited to what you own. I can pull reference and public-domain texts into your knowledge library from </a:t>
            </a:r>
            <a:r>
              <a:rPr sz="1250" b="1" i="0">
                <a:solidFill>
                  <a:srgbClr val="21302B"/>
                </a:solidFill>
                <a:latin typeface="Calibri"/>
              </a:rPr>
              <a:t>curated catalogs</a:t>
            </a:r>
            <a:r>
              <a:rPr sz="1250" b="0" i="0">
                <a:solidFill>
                  <a:srgbClr val="5E6E66"/>
                </a:solidFill>
                <a:latin typeface="Calibri"/>
              </a:rPr>
              <a:t> — then explain and quiz at your level.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2743200"/>
            <a:ext cx="42062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91640" y="294436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302B"/>
                </a:solidFill>
                <a:latin typeface="Georgia"/>
              </a:rPr>
              <a:t>What you bring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91640" y="3383280"/>
            <a:ext cx="1097280" cy="365760"/>
          </a:xfrm>
          <a:prstGeom prst="roundRect">
            <a:avLst>
              <a:gd name="adj" fmla="val 30000"/>
            </a:avLst>
          </a:prstGeom>
          <a:solidFill>
            <a:srgbClr val="FCFBF4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91640" y="338328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02B"/>
                </a:solidFill>
                <a:latin typeface="Consolas"/>
              </a:rPr>
              <a:t>textbooks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338328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FCFBF4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3383280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02B"/>
                </a:solidFill>
                <a:latin typeface="Consolas"/>
              </a:rPr>
              <a:t>your notes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3383280"/>
            <a:ext cx="822960" cy="365760"/>
          </a:xfrm>
          <a:prstGeom prst="roundRect">
            <a:avLst>
              <a:gd name="adj" fmla="val 30000"/>
            </a:avLst>
          </a:prstGeom>
          <a:solidFill>
            <a:srgbClr val="FCFBF4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3383280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02B"/>
                </a:solidFill>
                <a:latin typeface="Consolas"/>
              </a:rPr>
              <a:t>slides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2743200"/>
            <a:ext cx="9144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 i="0">
                <a:solidFill>
                  <a:srgbClr val="5E6E66"/>
                </a:solidFill>
                <a:latin typeface="Consolas"/>
              </a:rPr>
              <a:t>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2280" y="2743200"/>
            <a:ext cx="42062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294436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302B"/>
                </a:solidFill>
                <a:latin typeface="Georgia"/>
              </a:rPr>
              <a:t>What I pull 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86600" y="3383280"/>
            <a:ext cx="1645920" cy="365760"/>
          </a:xfrm>
          <a:prstGeom prst="roundRect">
            <a:avLst>
              <a:gd name="adj" fmla="val 30000"/>
            </a:avLst>
          </a:prstGeom>
          <a:solidFill>
            <a:srgbClr val="FCFBF4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86600" y="338328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02B"/>
                </a:solidFill>
                <a:latin typeface="Consolas"/>
              </a:rPr>
              <a:t>reference texts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3383280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FCFBF4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338328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02B"/>
                </a:solidFill>
                <a:latin typeface="Consolas"/>
              </a:rPr>
              <a:t>curated catalogs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51760" y="4617720"/>
            <a:ext cx="7040880" cy="777240"/>
          </a:xfrm>
          <a:prstGeom prst="roundRect">
            <a:avLst>
              <a:gd name="adj" fmla="val 20000"/>
            </a:avLst>
          </a:prstGeom>
          <a:solidFill>
            <a:srgbClr val="E6F1EB"/>
          </a:solidFill>
          <a:ln w="15875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4617720"/>
            <a:ext cx="6675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2E7D5B"/>
                </a:solidFill>
                <a:latin typeface="Calibri"/>
              </a:rPr>
              <a:t>= one knowledge library  </a:t>
            </a:r>
            <a:r>
              <a:rPr sz="1200" b="0" i="0">
                <a:solidFill>
                  <a:srgbClr val="21302B"/>
                </a:solidFill>
                <a:latin typeface="Calibri"/>
              </a:rPr>
              <a:t>— broader than your reading list, still your syllabus.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105156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1527048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2002536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2478024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2953512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3429000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390448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437997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4855463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5330951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5806439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440" y="6281927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6757415"/>
            <a:ext cx="10607040" cy="12700"/>
          </a:xfrm>
          <a:prstGeom prst="rect">
            <a:avLst/>
          </a:prstGeom>
          <a:solidFill>
            <a:srgbClr val="D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0"/>
            <a:ext cx="25400" cy="6858000"/>
          </a:xfrm>
          <a:prstGeom prst="rect">
            <a:avLst/>
          </a:prstGeom>
          <a:solidFill>
            <a:srgbClr val="D9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" y="365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4048" y="822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4048" y="1280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" y="1737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" y="2194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" y="2651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4048" y="3108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" y="3566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4048" y="4023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44805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" y="49377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53949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4048" y="58521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6309360"/>
            <a:ext cx="237744" cy="146304"/>
          </a:xfrm>
          <a:prstGeom prst="ellipse">
            <a:avLst/>
          </a:prstGeom>
          <a:noFill/>
          <a:ln w="31750">
            <a:solidFill>
              <a:srgbClr val="9AA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" y="384048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3840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840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5B"/>
                </a:solidFill>
                <a:latin typeface="Consolas"/>
              </a:rPr>
              <a:t>WHEN YOU'RE READY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1207007"/>
            <a:ext cx="6876288" cy="502920"/>
          </a:xfrm>
          <a:prstGeom prst="roundRect">
            <a:avLst>
              <a:gd name="adj" fmla="val 50000"/>
            </a:avLst>
          </a:prstGeom>
          <a:solidFill>
            <a:srgbClr val="F4E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1097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21302B"/>
                </a:solidFill>
                <a:latin typeface="Georgia"/>
              </a:rPr>
              <a:t>Take me everywhere — ward, library, the commute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17320" y="2011680"/>
            <a:ext cx="10058400" cy="2834640"/>
          </a:xfrm>
          <a:prstGeom prst="roundRect">
            <a:avLst>
              <a:gd name="adj" fmla="val 4000"/>
            </a:avLst>
          </a:prstGeom>
          <a:solidFill>
            <a:srgbClr val="FBF8E6"/>
          </a:solidFill>
          <a:ln w="15875">
            <a:solidFill>
              <a:srgbClr val="E7D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0" y="228600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1">
                <a:solidFill>
                  <a:srgbClr val="21302B"/>
                </a:solidFill>
                <a:latin typeface="Calibri"/>
              </a:rPr>
              <a:t>One day you'll want your study not just on your laptop, but on your phone on the ward and your tablet in the library. That's when you'll upgrade 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3154680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</a:t>
            </a:r>
            <a:r>
              <a:rPr sz="1300" b="1" i="0">
                <a:solidFill>
                  <a:srgbClr val="21302B"/>
                </a:solidFill>
                <a:latin typeface="Calibri"/>
              </a:rPr>
              <a:t>One private library, every device </a:t>
            </a:r>
            <a:r>
              <a:rPr sz="1200" b="0" i="0">
                <a:solidFill>
                  <a:srgbClr val="21302B"/>
                </a:solidFill>
                <a:latin typeface="Calibri"/>
              </a:rPr>
              <a:t>— I carry your whole knowledge library and its quizzes across your devices, in sync.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3593592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</a:t>
            </a:r>
            <a:r>
              <a:rPr sz="1300" b="1" i="0">
                <a:solidFill>
                  <a:srgbClr val="21302B"/>
                </a:solidFill>
                <a:latin typeface="Calibri"/>
              </a:rPr>
              <a:t>Revise anywhere </a:t>
            </a:r>
            <a:r>
              <a:rPr sz="1200" b="0" i="0">
                <a:solidFill>
                  <a:srgbClr val="21302B"/>
                </a:solidFill>
                <a:latin typeface="Calibri"/>
              </a:rPr>
              <a:t>— ten minutes on the commute? Pick up exactly where you left off.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032504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</a:t>
            </a:r>
            <a:r>
              <a:rPr sz="1300" b="1" i="0">
                <a:solidFill>
                  <a:srgbClr val="21302B"/>
                </a:solidFill>
                <a:latin typeface="Calibri"/>
              </a:rPr>
              <a:t>Still yours alone </a:t>
            </a:r>
            <a:r>
              <a:rPr sz="1200" b="0" i="0">
                <a:solidFill>
                  <a:srgbClr val="21302B"/>
                </a:solidFill>
                <a:latin typeface="Calibri"/>
              </a:rPr>
              <a:t>— private, encrypted, never shared, never used to profile you.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5262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E6E66"/>
                </a:solidFill>
                <a:latin typeface="Calibri"/>
              </a:rPr>
              <a:t>Upgrading makes me a private hosted library that follows you. The free device-only version stays as it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FDDCB"/>
                </a:solidFill>
                <a:latin typeface="Consolas"/>
              </a:rPr>
              <a:t>★ MY PROMISE TO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97480"/>
            <a:ext cx="10058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Give me the material your course is built on, and I'll turn it into explanations you get and quizzes that match your exam — in minutes, at your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FDDCB"/>
                </a:solidFill>
                <a:latin typeface="Consolas"/>
              </a:rPr>
              <a:t>Free on your device · paid across every device. Learn → Author → Carry, privately.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