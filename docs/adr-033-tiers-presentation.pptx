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someone asks 'can YOU (the company) read it?': On the free tier, no — it never leaves the device. On the paid tier, our server has to read your writing to build the search index, so it's private to you and no other user — but it isn't a 'we literally cannot see it' guarantee. If that matters, the free device tier is the zero-knowledge option.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0"/>
            <a:ext cx="128016" cy="6858000"/>
          </a:xfrm>
          <a:prstGeom prst="rect">
            <a:avLst/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155448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B6470"/>
                </a:solidFill>
                <a:latin typeface="Consolas"/>
              </a:rPr>
              <a:t>MENTIBLE · A SIMPLE PICTURE FOR A NON-TECHNICAL AUDIENCE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05740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5200" b="1" i="0">
                <a:solidFill>
                  <a:srgbClr val="1B2027"/>
                </a:solidFill>
                <a:latin typeface="Georgia"/>
              </a:rPr>
              <a:t>Your library, two 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429000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5B6470"/>
                </a:solidFill>
                <a:latin typeface="Calibri"/>
              </a:rPr>
              <a:t>The same app, two ways to keep your library. Free stays on your device. Paid gives you a private library that follows you everywhere.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4709160"/>
            <a:ext cx="2464308" cy="384048"/>
          </a:xfrm>
          <a:prstGeom prst="roundRect">
            <a:avLst>
              <a:gd name="adj" fmla="val 50000"/>
            </a:avLst>
          </a:prstGeom>
          <a:solidFill>
            <a:srgbClr val="E7F1EF"/>
          </a:solidFill>
          <a:ln w="12700">
            <a:solidFill>
              <a:srgbClr val="2F8F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4709160"/>
            <a:ext cx="24643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F8F83"/>
                </a:solidFill>
                <a:latin typeface="Calibri"/>
              </a:rPr>
              <a:t>  Free — on your device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4508" y="4709160"/>
            <a:ext cx="2560320" cy="384048"/>
          </a:xfrm>
          <a:prstGeom prst="roundRect">
            <a:avLst>
              <a:gd name="adj" fmla="val 50000"/>
            </a:avLst>
          </a:prstGeom>
          <a:solidFill>
            <a:srgbClr val="F6EEDD"/>
          </a:solidFill>
          <a:ln w="12700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64508" y="4709160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B5822E"/>
                </a:solidFill>
                <a:latin typeface="Calibri"/>
              </a:rPr>
              <a:t>  Paid — private, synced</a:t>
            </a:r>
          </a:p>
        </p:txBody>
      </p:sp>
      <p:sp>
        <p:nvSpPr>
          <p:cNvPr id="12" name="Oval 11"/>
          <p:cNvSpPr/>
          <p:nvPr/>
        </p:nvSpPr>
        <p:spPr>
          <a:xfrm>
            <a:off x="1408176" y="4828032"/>
            <a:ext cx="146304" cy="146304"/>
          </a:xfrm>
          <a:prstGeom prst="ellipse">
            <a:avLst/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92524" y="4828032"/>
            <a:ext cx="146304" cy="146304"/>
          </a:xfrm>
          <a:prstGeom prst="ellipse">
            <a:avLst/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1">
                <a:solidFill>
                  <a:srgbClr val="5B6470"/>
                </a:solidFill>
                <a:latin typeface="Calibri"/>
              </a:rPr>
              <a:t>Illustrates ADR-033 — per-user private hosted library.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48640"/>
            <a:ext cx="1984248" cy="384048"/>
          </a:xfrm>
          <a:prstGeom prst="roundRect">
            <a:avLst>
              <a:gd name="adj" fmla="val 50000"/>
            </a:avLst>
          </a:prstGeom>
          <a:solidFill>
            <a:srgbClr val="E7F1EF"/>
          </a:solidFill>
          <a:ln w="12700">
            <a:solidFill>
              <a:srgbClr val="2F8F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9842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2F8F83"/>
                </a:solidFill>
                <a:latin typeface="Calibri"/>
              </a:rPr>
              <a:t>  FREE · ON DEVICE</a:t>
            </a:r>
          </a:p>
        </p:txBody>
      </p:sp>
      <p:sp>
        <p:nvSpPr>
          <p:cNvPr id="5" name="Oval 4"/>
          <p:cNvSpPr/>
          <p:nvPr/>
        </p:nvSpPr>
        <p:spPr>
          <a:xfrm>
            <a:off x="950976" y="667512"/>
            <a:ext cx="146304" cy="146304"/>
          </a:xfrm>
          <a:prstGeom prst="ellipse">
            <a:avLst/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B2027"/>
                </a:solidFill>
                <a:latin typeface="Georgia"/>
              </a:rPr>
              <a:t>On your device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B6470"/>
                </a:solidFill>
                <a:latin typeface="Calibri"/>
              </a:rPr>
              <a:t>Everything you write and download lives on the phone in your hand. Nothing is sent anywhere.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2468880"/>
            <a:ext cx="2286000" cy="4023360"/>
          </a:xfrm>
          <a:prstGeom prst="roundRect">
            <a:avLst>
              <a:gd name="adj" fmla="val 14000"/>
            </a:avLst>
          </a:prstGeom>
          <a:solidFill>
            <a:srgbClr val="1B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61288" y="2578608"/>
            <a:ext cx="2066543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1016" y="2688336"/>
            <a:ext cx="184708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B6470"/>
                </a:solidFill>
                <a:latin typeface="Consolas"/>
              </a:rPr>
              <a:t>MENTIBLE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B2027"/>
                </a:solidFill>
                <a:latin typeface="Calibri"/>
              </a:rPr>
              <a:t>My Library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71016" y="3200400"/>
            <a:ext cx="82296" cy="701040"/>
          </a:xfrm>
          <a:prstGeom prst="roundRect">
            <a:avLst>
              <a:gd name="adj" fmla="val 50000"/>
            </a:avLst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53896" y="3145536"/>
            <a:ext cx="170078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B2027"/>
                </a:solidFill>
                <a:latin typeface="Calibri"/>
              </a:rPr>
              <a:t>Photosynthesis, Explained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71016" y="4047744"/>
            <a:ext cx="82296" cy="701040"/>
          </a:xfrm>
          <a:prstGeom prst="roundRect">
            <a:avLst>
              <a:gd name="adj" fmla="val 50000"/>
            </a:avLst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53896" y="3992880"/>
            <a:ext cx="170078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B2027"/>
                </a:solidFill>
                <a:latin typeface="Calibri"/>
              </a:rPr>
              <a:t>Intro to Statistics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71016" y="4895088"/>
            <a:ext cx="82296" cy="701040"/>
          </a:xfrm>
          <a:prstGeom prst="roundRect">
            <a:avLst>
              <a:gd name="adj" fmla="val 50000"/>
            </a:avLst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53896" y="4840224"/>
            <a:ext cx="1700783" cy="8473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B2027"/>
                </a:solidFill>
                <a:latin typeface="Calibri"/>
              </a:rPr>
              <a:t>The Wealth of Nations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71016" y="5925312"/>
            <a:ext cx="1847088" cy="365760"/>
          </a:xfrm>
          <a:prstGeom prst="roundRect">
            <a:avLst>
              <a:gd name="adj" fmla="val 35000"/>
            </a:avLst>
          </a:prstGeom>
          <a:solidFill>
            <a:srgbClr val="FBFAF7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71016" y="5925312"/>
            <a:ext cx="184708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0" i="0">
                <a:solidFill>
                  <a:srgbClr val="5B6470"/>
                </a:solidFill>
                <a:latin typeface="Calibri"/>
              </a:rPr>
              <a:t>Search your shelf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23360" y="260604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7F1EF"/>
          </a:solidFill>
          <a:ln w="15875">
            <a:solidFill>
              <a:srgbClr val="2F8F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78808" y="2761488"/>
            <a:ext cx="146304" cy="146304"/>
          </a:xfrm>
          <a:prstGeom prst="ellipse">
            <a:avLst/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2560320"/>
            <a:ext cx="67482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B2027"/>
                </a:solidFill>
                <a:latin typeface="Calibri"/>
              </a:rPr>
              <a:t>It's all on your device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Your books, drafts and lessons live here — not on anyone's server.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3593592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7F1EF"/>
          </a:solidFill>
          <a:ln w="15875">
            <a:solidFill>
              <a:srgbClr val="2F8F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78808" y="3749040"/>
            <a:ext cx="146304" cy="146304"/>
          </a:xfrm>
          <a:prstGeom prst="ellipse">
            <a:avLst/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3547872"/>
            <a:ext cx="67482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B2027"/>
                </a:solidFill>
                <a:latin typeface="Calibri"/>
              </a:rPr>
              <a:t>Works offline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On a plane, on the subway — it just works, no signal needed.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23360" y="4581144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7F1EF"/>
          </a:solidFill>
          <a:ln w="15875">
            <a:solidFill>
              <a:srgbClr val="2F8F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178808" y="4736592"/>
            <a:ext cx="146304" cy="146304"/>
          </a:xfrm>
          <a:prstGeom prst="ellipse">
            <a:avLst/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8" y="4535424"/>
            <a:ext cx="67482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B2027"/>
                </a:solidFill>
                <a:latin typeface="Calibri"/>
              </a:rPr>
              <a:t>Only you can see it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Nothing leaves the device, so there's nothing for us to see.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5568696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7F1EF"/>
          </a:solidFill>
          <a:ln w="15875">
            <a:solidFill>
              <a:srgbClr val="2F8F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178808" y="5724144"/>
            <a:ext cx="146304" cy="146304"/>
          </a:xfrm>
          <a:prstGeom prst="ellipse">
            <a:avLst/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81728" y="5522976"/>
            <a:ext cx="674827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B2027"/>
                </a:solidFill>
                <a:latin typeface="Calibri"/>
              </a:rPr>
              <a:t>Free — no account needed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Open the app and start. No sign-up, no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548640"/>
            <a:ext cx="2464308" cy="384048"/>
          </a:xfrm>
          <a:prstGeom prst="roundRect">
            <a:avLst>
              <a:gd name="adj" fmla="val 50000"/>
            </a:avLst>
          </a:prstGeom>
          <a:solidFill>
            <a:srgbClr val="F6EEDD"/>
          </a:solidFill>
          <a:ln w="12700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246430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B5822E"/>
                </a:solidFill>
                <a:latin typeface="Calibri"/>
              </a:rPr>
              <a:t>  PAID · PRIVATE HOSTED</a:t>
            </a:r>
          </a:p>
        </p:txBody>
      </p:sp>
      <p:sp>
        <p:nvSpPr>
          <p:cNvPr id="5" name="Oval 4"/>
          <p:cNvSpPr/>
          <p:nvPr/>
        </p:nvSpPr>
        <p:spPr>
          <a:xfrm>
            <a:off x="950976" y="667512"/>
            <a:ext cx="146304" cy="146304"/>
          </a:xfrm>
          <a:prstGeom prst="ellipse">
            <a:avLst/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1B2027"/>
                </a:solidFill>
                <a:latin typeface="Georgia"/>
              </a:rPr>
              <a:t>A private library that follows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5B6470"/>
                </a:solidFill>
                <a:latin typeface="Calibri"/>
              </a:rPr>
              <a:t>Open the same library on your phone, tablet, or the web — always up to date.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5146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6EEDD"/>
          </a:solidFill>
          <a:ln w="15875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78408" y="2670048"/>
            <a:ext cx="146304" cy="146304"/>
          </a:xfrm>
          <a:prstGeom prst="ellipse">
            <a:avLst/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1328" y="2468880"/>
            <a:ext cx="3913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B2027"/>
                </a:solidFill>
                <a:latin typeface="Calibri"/>
              </a:rPr>
              <a:t>Same library everywhere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Start on your phone, finish on your laptop — it's already there.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47472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6EEDD"/>
          </a:solidFill>
          <a:ln w="15875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8408" y="3630168"/>
            <a:ext cx="146304" cy="146304"/>
          </a:xfrm>
          <a:prstGeom prst="ellipse">
            <a:avLst/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81328" y="3429000"/>
            <a:ext cx="3913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B2027"/>
                </a:solidFill>
                <a:latin typeface="Calibri"/>
              </a:rPr>
              <a:t>Search everything you've written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Ask a question, get answers from across your whole library.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43484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6EEDD"/>
          </a:solidFill>
          <a:ln w="15875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78408" y="4590288"/>
            <a:ext cx="146304" cy="146304"/>
          </a:xfrm>
          <a:prstGeom prst="ellipse">
            <a:avLst/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81328" y="4389120"/>
            <a:ext cx="3913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B2027"/>
                </a:solidFill>
                <a:latin typeface="Calibri"/>
              </a:rPr>
              <a:t>Private to you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Yours alone — never shared, never used to profile you.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39496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6EEDD"/>
          </a:solidFill>
          <a:ln w="15875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8408" y="5550408"/>
            <a:ext cx="146304" cy="146304"/>
          </a:xfrm>
          <a:prstGeom prst="ellipse">
            <a:avLst/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81328" y="5349240"/>
            <a:ext cx="39136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1B2027"/>
                </a:solidFill>
                <a:latin typeface="Calibri"/>
              </a:rPr>
              <a:t>Room to grow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Comes with a starting storage &amp; usage allowance; upgrade for more.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0" y="2468880"/>
            <a:ext cx="420624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53328" y="2578608"/>
            <a:ext cx="398678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B6470"/>
                </a:solidFill>
                <a:latin typeface="Consolas"/>
              </a:rPr>
              <a:t>WEB</a:t>
            </a:r>
          </a:p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1B2027"/>
                </a:solidFill>
                <a:latin typeface="Calibri"/>
              </a:rPr>
              <a:t>My Library — all devices in sync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53328" y="3090672"/>
            <a:ext cx="82296" cy="335279"/>
          </a:xfrm>
          <a:prstGeom prst="roundRect">
            <a:avLst>
              <a:gd name="adj" fmla="val 50000"/>
            </a:avLst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36208" y="3035808"/>
            <a:ext cx="3840479" cy="4815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B2027"/>
                </a:solidFill>
                <a:latin typeface="Calibri"/>
              </a:rPr>
              <a:t>Photosynthesis, Explained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3328" y="3572256"/>
            <a:ext cx="82296" cy="335279"/>
          </a:xfrm>
          <a:prstGeom prst="roundRect">
            <a:avLst>
              <a:gd name="adj" fmla="val 50000"/>
            </a:avLst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8" y="3517392"/>
            <a:ext cx="3840479" cy="4815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B2027"/>
                </a:solidFill>
                <a:latin typeface="Calibri"/>
              </a:rPr>
              <a:t>Intro to Statistics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53328" y="4053839"/>
            <a:ext cx="82296" cy="335279"/>
          </a:xfrm>
          <a:prstGeom prst="roundRect">
            <a:avLst>
              <a:gd name="adj" fmla="val 50000"/>
            </a:avLst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36208" y="3998975"/>
            <a:ext cx="3840479" cy="48158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B2027"/>
                </a:solidFill>
                <a:latin typeface="Calibri"/>
              </a:rPr>
              <a:t>The Wealth of Nations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94960" y="4590288"/>
            <a:ext cx="5303520" cy="137160"/>
          </a:xfrm>
          <a:prstGeom prst="roundRect">
            <a:avLst>
              <a:gd name="adj" fmla="val 50000"/>
            </a:avLst>
          </a:prstGeom>
          <a:solidFill>
            <a:srgbClr val="1B20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4773168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B5822E"/>
                </a:solidFill>
                <a:latin typeface="Calibri"/>
              </a:rPr>
              <a:t>One private library · every device shows the same shelf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5230368"/>
            <a:ext cx="201168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53328" y="5340096"/>
            <a:ext cx="17922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B6470"/>
                </a:solidFill>
                <a:latin typeface="Consolas"/>
              </a:rPr>
              <a:t>PHONE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B2027"/>
                </a:solidFill>
                <a:latin typeface="Calibri"/>
              </a:rPr>
              <a:t>Library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53328" y="5852159"/>
            <a:ext cx="82296" cy="96012"/>
          </a:xfrm>
          <a:prstGeom prst="roundRect">
            <a:avLst>
              <a:gd name="adj" fmla="val 50000"/>
            </a:avLst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36208" y="5797296"/>
            <a:ext cx="1645920" cy="2423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B2027"/>
                </a:solidFill>
                <a:latin typeface="Calibri"/>
              </a:rPr>
              <a:t>Photosynth…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053328" y="6094475"/>
            <a:ext cx="82296" cy="96012"/>
          </a:xfrm>
          <a:prstGeom prst="roundRect">
            <a:avLst>
              <a:gd name="adj" fmla="val 50000"/>
            </a:avLst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8" y="6039612"/>
            <a:ext cx="1645920" cy="2423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B2027"/>
                </a:solidFill>
                <a:latin typeface="Calibri"/>
              </a:rPr>
              <a:t>Statistics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79" y="5230368"/>
            <a:ext cx="2057400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93607" y="5340096"/>
            <a:ext cx="183794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0">
                <a:solidFill>
                  <a:srgbClr val="5B6470"/>
                </a:solidFill>
                <a:latin typeface="Consolas"/>
              </a:rPr>
              <a:t>TABLET</a:t>
            </a:r>
          </a:p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B2027"/>
                </a:solidFill>
                <a:latin typeface="Calibri"/>
              </a:rPr>
              <a:t>Library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93607" y="5852159"/>
            <a:ext cx="82296" cy="96012"/>
          </a:xfrm>
          <a:prstGeom prst="roundRect">
            <a:avLst>
              <a:gd name="adj" fmla="val 50000"/>
            </a:avLst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76487" y="5797296"/>
            <a:ext cx="1691639" cy="2423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B2027"/>
                </a:solidFill>
                <a:latin typeface="Calibri"/>
              </a:rPr>
              <a:t>Photosynthesis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93607" y="6094475"/>
            <a:ext cx="82296" cy="96012"/>
          </a:xfrm>
          <a:prstGeom prst="roundRect">
            <a:avLst>
              <a:gd name="adj" fmla="val 50000"/>
            </a:avLst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76487" y="6039612"/>
            <a:ext cx="1691639" cy="2423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1B2027"/>
                </a:solidFill>
                <a:latin typeface="Calibri"/>
              </a:rPr>
              <a:t>Wealth of…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onsolas"/>
              </a:rPr>
              <a:t>THREE PICTURES TO EXPLAIN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B2027"/>
                </a:solidFill>
                <a:latin typeface="Georgia"/>
              </a:rPr>
              <a:t>Three pictures to explain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470"/>
                </a:solidFill>
                <a:latin typeface="Calibri"/>
              </a:rPr>
              <a:t>Each is a plain-language way to describe the choice.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163" y="2468880"/>
            <a:ext cx="3429000" cy="3703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0363" y="278892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E7F1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80463" y="2971800"/>
            <a:ext cx="91440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2F8F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045055" y="3118104"/>
            <a:ext cx="585216" cy="73152"/>
          </a:xfrm>
          <a:prstGeom prst="roundRect">
            <a:avLst>
              <a:gd name="adj" fmla="val 50000"/>
            </a:avLst>
          </a:prstGeom>
          <a:solidFill>
            <a:srgbClr val="2F8F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045055" y="3291840"/>
            <a:ext cx="585216" cy="73152"/>
          </a:xfrm>
          <a:prstGeom prst="roundRect">
            <a:avLst>
              <a:gd name="adj" fmla="val 50000"/>
            </a:avLst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45055" y="3465576"/>
            <a:ext cx="585216" cy="73152"/>
          </a:xfrm>
          <a:prstGeom prst="roundRect">
            <a:avLst>
              <a:gd name="adj" fmla="val 50000"/>
            </a:avLst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7483" y="425196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F8F83"/>
                </a:solidFill>
                <a:latin typeface="Consolas"/>
              </a:rPr>
              <a:t>FREE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3203" y="457200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 i="0">
                <a:solidFill>
                  <a:srgbClr val="1B2027"/>
                </a:solidFill>
                <a:latin typeface="Georgia"/>
              </a:rPr>
              <a:t>A notebook in your bag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8923" y="5257800"/>
            <a:ext cx="2697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Always with you, works anywhere, only you open it — but it lives in one place.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1347" y="2468880"/>
            <a:ext cx="3429000" cy="3703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38547" y="278892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F6EE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84367" y="3200400"/>
            <a:ext cx="822960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50127" y="3044952"/>
            <a:ext cx="91440" cy="91440"/>
          </a:xfrm>
          <a:prstGeom prst="ellipse">
            <a:avLst/>
          </a:prstGeom>
          <a:solidFill>
            <a:srgbClr val="B58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07127" y="2971800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193127" y="2971800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907127" y="3794760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93127" y="3794760"/>
            <a:ext cx="219456" cy="21945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582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55667" y="425196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B5822E"/>
                </a:solidFill>
                <a:latin typeface="Consolas"/>
              </a:rPr>
              <a:t>PAID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1387" y="457200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 i="0">
                <a:solidFill>
                  <a:srgbClr val="1B2027"/>
                </a:solidFill>
                <a:latin typeface="Georgia"/>
              </a:rPr>
              <a:t>A private study that follows you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47107" y="5257800"/>
            <a:ext cx="2697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One private room holds your whole library; every device is a door into the same room.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9531" y="2468880"/>
            <a:ext cx="3429000" cy="3703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1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96731" y="2788920"/>
            <a:ext cx="2514600" cy="1234440"/>
          </a:xfrm>
          <a:prstGeom prst="roundRect">
            <a:avLst>
              <a:gd name="adj" fmla="val 8000"/>
            </a:avLst>
          </a:prstGeom>
          <a:solidFill>
            <a:srgbClr val="E6EC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287103" y="2990088"/>
            <a:ext cx="1133856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2E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98583" y="3218688"/>
            <a:ext cx="310896" cy="310896"/>
          </a:xfrm>
          <a:prstGeom prst="ellipse">
            <a:avLst/>
          </a:prstGeom>
          <a:noFill/>
          <a:ln w="28575">
            <a:solidFill>
              <a:srgbClr val="2E4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43719" y="3364992"/>
            <a:ext cx="420624" cy="329184"/>
          </a:xfrm>
          <a:prstGeom prst="roundRect">
            <a:avLst>
              <a:gd name="adj" fmla="val 22000"/>
            </a:avLst>
          </a:prstGeom>
          <a:solidFill>
            <a:srgbClr val="2E4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12883" y="3465576"/>
            <a:ext cx="82296" cy="82296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3851" y="425196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2E4A6B"/>
                </a:solidFill>
                <a:latin typeface="Consolas"/>
              </a:rPr>
              <a:t>EITHER WAY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9571" y="4572000"/>
            <a:ext cx="2788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650" b="1" i="0">
                <a:solidFill>
                  <a:srgbClr val="1B2027"/>
                </a:solidFill>
                <a:latin typeface="Georgia"/>
              </a:rPr>
              <a:t>A locked room only you enter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5291" y="5257800"/>
            <a:ext cx="26974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150" b="0" i="0">
                <a:solidFill>
                  <a:srgbClr val="5B6470"/>
                </a:solidFill>
                <a:latin typeface="Calibri"/>
              </a:rPr>
              <a:t>Both tiers are private. Free keeps the key on your device; paid keeps your room locked on our side.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B6470"/>
                </a:solidFill>
                <a:latin typeface="Consolas"/>
              </a:rPr>
              <a:t>SIDE BY SIDE — NO JARGON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1B2027"/>
                </a:solidFill>
                <a:latin typeface="Georgia"/>
              </a:rPr>
              <a:t>Side by side — no jargon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B6470"/>
                </a:solidFill>
                <a:latin typeface="Calibri"/>
              </a:rPr>
              <a:t>The whole decision in one table.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2331720"/>
          <a:ext cx="105156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3108960"/>
                <a:gridCol w="3108960"/>
              </a:tblGrid>
              <a:tr h="54864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B2027"/>
                          </a:solidFill>
                          <a:latin typeface="Consolas"/>
                        </a:rPr>
                        <a:t/>
                      </a:r>
                    </a:p>
                  </a:txBody>
                  <a:tcPr marL="128016" marR="91440" marT="54864" marB="54864" anchor="ctr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F8F83"/>
                          </a:solidFill>
                          <a:latin typeface="Consolas"/>
                        </a:rPr>
                        <a:t>Free · on device</a:t>
                      </a:r>
                    </a:p>
                  </a:txBody>
                  <a:tcPr marL="128016" marR="91440" marT="54864" marB="54864" anchor="ctr"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B5822E"/>
                          </a:solidFill>
                          <a:latin typeface="Consolas"/>
                        </a:rPr>
                        <a:t>Paid · private hosted</a:t>
                      </a:r>
                    </a:p>
                  </a:txBody>
                  <a:tcPr marL="128016" marR="91440" marT="54864" marB="54864" anchor="ctr">
                    <a:solidFill>
                      <a:srgbClr val="FBFA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6470"/>
                          </a:solidFill>
                          <a:latin typeface="Calibri"/>
                        </a:rPr>
                        <a:t>Where your library lives</a:t>
                      </a:r>
                    </a:p>
                  </a:txBody>
                  <a:tcPr marL="128016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027"/>
                          </a:solidFill>
                          <a:latin typeface="Calibri"/>
                        </a:rPr>
                        <a:t>On your device</a:t>
                      </a:r>
                    </a:p>
                  </a:txBody>
                  <a:tcPr marL="128016" marR="91440" marT="54864" marB="54864" anchor="ctr">
                    <a:solidFill>
                      <a:srgbClr val="E7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027"/>
                          </a:solidFill>
                          <a:latin typeface="Calibri"/>
                        </a:rPr>
                        <a:t>In your private online space</a:t>
                      </a:r>
                    </a:p>
                  </a:txBody>
                  <a:tcPr marL="128016" marR="91440" marT="54864" marB="54864" anchor="ctr">
                    <a:solidFill>
                      <a:srgbClr val="F6EE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6470"/>
                          </a:solidFill>
                          <a:latin typeface="Calibri"/>
                        </a:rPr>
                        <a:t>Use it on all your devices</a:t>
                      </a:r>
                    </a:p>
                  </a:txBody>
                  <a:tcPr marL="128016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027"/>
                          </a:solidFill>
                          <a:latin typeface="Calibri"/>
                        </a:rPr>
                        <a:t>One device at a time</a:t>
                      </a:r>
                    </a:p>
                  </a:txBody>
                  <a:tcPr marL="128016" marR="91440" marT="54864" marB="54864" anchor="ctr">
                    <a:solidFill>
                      <a:srgbClr val="E7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027"/>
                          </a:solidFill>
                          <a:latin typeface="Calibri"/>
                        </a:rPr>
                        <a:t>Phone, tablet &amp; web — in sync</a:t>
                      </a:r>
                    </a:p>
                  </a:txBody>
                  <a:tcPr marL="128016" marR="91440" marT="54864" marB="54864" anchor="ctr">
                    <a:solidFill>
                      <a:srgbClr val="F6EE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6470"/>
                          </a:solidFill>
                          <a:latin typeface="Calibri"/>
                        </a:rPr>
                        <a:t>Search across your whole library</a:t>
                      </a:r>
                    </a:p>
                  </a:txBody>
                  <a:tcPr marL="128016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027"/>
                          </a:solidFill>
                          <a:latin typeface="Calibri"/>
                        </a:rPr>
                        <a:t>On that device's shelf</a:t>
                      </a:r>
                    </a:p>
                  </a:txBody>
                  <a:tcPr marL="128016" marR="91440" marT="54864" marB="54864" anchor="ctr">
                    <a:solidFill>
                      <a:srgbClr val="E7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027"/>
                          </a:solidFill>
                          <a:latin typeface="Calibri"/>
                        </a:rPr>
                        <a:t>Everything, from anywhere</a:t>
                      </a:r>
                    </a:p>
                  </a:txBody>
                  <a:tcPr marL="128016" marR="91440" marT="54864" marB="54864" anchor="ctr">
                    <a:solidFill>
                      <a:srgbClr val="F6EE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6470"/>
                          </a:solidFill>
                          <a:latin typeface="Calibri"/>
                        </a:rPr>
                        <a:t>Works offline</a:t>
                      </a:r>
                    </a:p>
                  </a:txBody>
                  <a:tcPr marL="128016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027"/>
                          </a:solidFill>
                          <a:latin typeface="Calibri"/>
                        </a:rPr>
                        <a:t>Always</a:t>
                      </a:r>
                    </a:p>
                  </a:txBody>
                  <a:tcPr marL="128016" marR="91440" marT="54864" marB="54864" anchor="ctr">
                    <a:solidFill>
                      <a:srgbClr val="E7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027"/>
                          </a:solidFill>
                          <a:latin typeface="Calibri"/>
                        </a:rPr>
                        <a:t>Needs a connection</a:t>
                      </a:r>
                    </a:p>
                  </a:txBody>
                  <a:tcPr marL="128016" marR="91440" marT="54864" marB="54864" anchor="ctr">
                    <a:solidFill>
                      <a:srgbClr val="F6EE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6470"/>
                          </a:solidFill>
                          <a:latin typeface="Calibri"/>
                        </a:rPr>
                        <a:t>Who can see it</a:t>
                      </a:r>
                    </a:p>
                  </a:txBody>
                  <a:tcPr marL="128016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027"/>
                          </a:solidFill>
                          <a:latin typeface="Calibri"/>
                        </a:rPr>
                        <a:t>Only you (never leaves device)</a:t>
                      </a:r>
                    </a:p>
                  </a:txBody>
                  <a:tcPr marL="128016" marR="91440" marT="54864" marB="54864" anchor="ctr">
                    <a:solidFill>
                      <a:srgbClr val="E7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027"/>
                          </a:solidFill>
                          <a:latin typeface="Calibri"/>
                        </a:rPr>
                        <a:t>Only you (private, encrypted)</a:t>
                      </a:r>
                    </a:p>
                  </a:txBody>
                  <a:tcPr marL="128016" marR="91440" marT="54864" marB="54864" anchor="ctr">
                    <a:solidFill>
                      <a:srgbClr val="F6EED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5B6470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128016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027"/>
                          </a:solidFill>
                          <a:latin typeface="Calibri"/>
                        </a:rPr>
                        <a:t>Free</a:t>
                      </a:r>
                    </a:p>
                  </a:txBody>
                  <a:tcPr marL="128016" marR="91440" marT="54864" marB="54864" anchor="ctr">
                    <a:solidFill>
                      <a:srgbClr val="E7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B2027"/>
                          </a:solidFill>
                          <a:latin typeface="Calibri"/>
                        </a:rPr>
                        <a:t>Subscription, with allowance</a:t>
                      </a:r>
                    </a:p>
                  </a:txBody>
                  <a:tcPr marL="128016" marR="91440" marT="54864" marB="54864" anchor="ctr">
                    <a:solidFill>
                      <a:srgbClr val="F6EED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1">
                <a:solidFill>
                  <a:srgbClr val="5B6470"/>
                </a:solidFill>
                <a:latin typeface="Calibri"/>
              </a:rPr>
              <a:t>Free device tier is unchanged; the paid tier is opt-in. — ADR-033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