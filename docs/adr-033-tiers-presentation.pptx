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1"/>
    <p:sldId id="260" r:id="rId12"/>
    <p:sldId id="261" r:id="rId1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notesMaster" Target="notesMasters/notesMaster1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If someone asks 'can YOU (the company) read it?': On the free tier, no — it never leaves the device. On the paid tier, our server has to read your writing to build the search index, so it's private to you and no other user — but it isn't a 'we literally cannot see it' guarantee. If that matters, the free device tier is the zero-knowledge option.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A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2F8F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256032" y="0"/>
            <a:ext cx="128016" cy="6858000"/>
          </a:xfrm>
          <a:prstGeom prst="rect">
            <a:avLst/>
          </a:prstGeom>
          <a:solidFill>
            <a:srgbClr val="B582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280160" y="1554480"/>
            <a:ext cx="9692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5B6470"/>
                </a:solidFill>
                <a:latin typeface="Consolas"/>
              </a:rPr>
              <a:t>MENTIBLE · A SIMPLE PICTURE FOR A NON-TECHNICAL AUDIENCE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80160" y="2057400"/>
            <a:ext cx="100584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5200" b="1" i="0">
                <a:solidFill>
                  <a:srgbClr val="1B2027"/>
                </a:solidFill>
                <a:latin typeface="Georgia"/>
              </a:rPr>
              <a:t>Your library, two ways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80160" y="3429000"/>
            <a:ext cx="95097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700" b="0" i="0">
                <a:solidFill>
                  <a:srgbClr val="5B6470"/>
                </a:solidFill>
                <a:latin typeface="Calibri"/>
              </a:rPr>
              <a:t>The same app, two ways to keep your library. Free stays on your device. Paid gives you a private library that follows you everywhere.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280160" y="4709160"/>
            <a:ext cx="2464308" cy="384048"/>
          </a:xfrm>
          <a:prstGeom prst="roundRect">
            <a:avLst>
              <a:gd name="adj" fmla="val 50000"/>
            </a:avLst>
          </a:prstGeom>
          <a:solidFill>
            <a:srgbClr val="E7F1EF"/>
          </a:solidFill>
          <a:ln w="12700">
            <a:solidFill>
              <a:srgbClr val="2F8F8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280160" y="4709160"/>
            <a:ext cx="246430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200" b="1" i="0">
                <a:solidFill>
                  <a:srgbClr val="2F8F83"/>
                </a:solidFill>
                <a:latin typeface="Calibri"/>
              </a:rPr>
              <a:t>  Free — on your device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064508" y="4709160"/>
            <a:ext cx="2560320" cy="384048"/>
          </a:xfrm>
          <a:prstGeom prst="roundRect">
            <a:avLst>
              <a:gd name="adj" fmla="val 50000"/>
            </a:avLst>
          </a:prstGeom>
          <a:solidFill>
            <a:srgbClr val="F6EEDD"/>
          </a:solidFill>
          <a:ln w="12700">
            <a:solidFill>
              <a:srgbClr val="B582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064508" y="4709160"/>
            <a:ext cx="256032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200" b="1" i="0">
                <a:solidFill>
                  <a:srgbClr val="B5822E"/>
                </a:solidFill>
                <a:latin typeface="Calibri"/>
              </a:rPr>
              <a:t>  Paid — private, synced</a:t>
            </a:r>
          </a:p>
        </p:txBody>
      </p:sp>
      <p:sp>
        <p:nvSpPr>
          <p:cNvPr id="12" name="Oval 11"/>
          <p:cNvSpPr/>
          <p:nvPr/>
        </p:nvSpPr>
        <p:spPr>
          <a:xfrm>
            <a:off x="1408176" y="4828032"/>
            <a:ext cx="146304" cy="146304"/>
          </a:xfrm>
          <a:prstGeom prst="ellipse">
            <a:avLst/>
          </a:prstGeom>
          <a:solidFill>
            <a:srgbClr val="2F8F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4192524" y="4828032"/>
            <a:ext cx="146304" cy="146304"/>
          </a:xfrm>
          <a:prstGeom prst="ellipse">
            <a:avLst/>
          </a:prstGeom>
          <a:solidFill>
            <a:srgbClr val="B582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7936992" y="4315968"/>
            <a:ext cx="950976" cy="950976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12700">
            <a:solidFill>
              <a:srgbClr val="E1DD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8293607" y="4608576"/>
            <a:ext cx="237744" cy="365760"/>
          </a:xfrm>
          <a:prstGeom prst="roundRect">
            <a:avLst>
              <a:gd name="adj" fmla="val 20000"/>
            </a:avLst>
          </a:prstGeom>
          <a:noFill/>
          <a:ln w="25400">
            <a:solidFill>
              <a:srgbClr val="2E4A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371331" y="4892040"/>
            <a:ext cx="82296" cy="22860"/>
          </a:xfrm>
          <a:prstGeom prst="rect">
            <a:avLst/>
          </a:prstGeom>
          <a:solidFill>
            <a:srgbClr val="2E4A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9015984" y="4315968"/>
            <a:ext cx="950976" cy="950976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12700">
            <a:solidFill>
              <a:srgbClr val="E1DD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9308592" y="4645152"/>
            <a:ext cx="365760" cy="292608"/>
          </a:xfrm>
          <a:prstGeom prst="roundRect">
            <a:avLst>
              <a:gd name="adj" fmla="val 12000"/>
            </a:avLst>
          </a:prstGeom>
          <a:noFill/>
          <a:ln w="25400">
            <a:solidFill>
              <a:srgbClr val="2E4A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10094976" y="4315968"/>
            <a:ext cx="950976" cy="950976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12700">
            <a:solidFill>
              <a:srgbClr val="E1DD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10387584" y="4608576"/>
            <a:ext cx="365760" cy="274320"/>
          </a:xfrm>
          <a:prstGeom prst="roundRect">
            <a:avLst>
              <a:gd name="adj" fmla="val 10000"/>
            </a:avLst>
          </a:prstGeom>
          <a:noFill/>
          <a:ln w="25400">
            <a:solidFill>
              <a:srgbClr val="2E4A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10323576" y="4882896"/>
            <a:ext cx="493776" cy="45720"/>
          </a:xfrm>
          <a:prstGeom prst="rect">
            <a:avLst/>
          </a:prstGeom>
          <a:solidFill>
            <a:srgbClr val="2E4A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863840" y="5413248"/>
            <a:ext cx="35661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 i="1">
                <a:solidFill>
                  <a:srgbClr val="5B6470"/>
                </a:solidFill>
                <a:latin typeface="Calibri"/>
              </a:rPr>
              <a:t>your library, on every device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280160" y="61264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 i="1">
                <a:solidFill>
                  <a:srgbClr val="5B6470"/>
                </a:solidFill>
                <a:latin typeface="Calibri"/>
              </a:rPr>
              <a:t>Illustrates ADR-033 — per-user private hosted library.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A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822960" y="548640"/>
            <a:ext cx="1984248" cy="384048"/>
          </a:xfrm>
          <a:prstGeom prst="roundRect">
            <a:avLst>
              <a:gd name="adj" fmla="val 50000"/>
            </a:avLst>
          </a:prstGeom>
          <a:solidFill>
            <a:srgbClr val="E7F1EF"/>
          </a:solidFill>
          <a:ln w="12700">
            <a:solidFill>
              <a:srgbClr val="2F8F8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548640"/>
            <a:ext cx="19842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200" b="1" i="0">
                <a:solidFill>
                  <a:srgbClr val="2F8F83"/>
                </a:solidFill>
                <a:latin typeface="Calibri"/>
              </a:rPr>
              <a:t>  FREE · ON DEVICE</a:t>
            </a:r>
          </a:p>
        </p:txBody>
      </p:sp>
      <p:sp>
        <p:nvSpPr>
          <p:cNvPr id="5" name="Oval 4"/>
          <p:cNvSpPr/>
          <p:nvPr/>
        </p:nvSpPr>
        <p:spPr>
          <a:xfrm>
            <a:off x="950976" y="667512"/>
            <a:ext cx="146304" cy="146304"/>
          </a:xfrm>
          <a:prstGeom prst="ellipse">
            <a:avLst/>
          </a:prstGeom>
          <a:solidFill>
            <a:srgbClr val="2F8F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1051560"/>
            <a:ext cx="105156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1" i="0">
                <a:solidFill>
                  <a:srgbClr val="1B2027"/>
                </a:solidFill>
                <a:latin typeface="Georgia"/>
              </a:rPr>
              <a:t>On your device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1691640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0" i="0">
                <a:solidFill>
                  <a:srgbClr val="5B6470"/>
                </a:solidFill>
                <a:latin typeface="Calibri"/>
              </a:rPr>
              <a:t>Everything you write and download lives on the phone in your hand. Nothing is sent anywhere.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051560" y="2468880"/>
            <a:ext cx="2286000" cy="4023360"/>
          </a:xfrm>
          <a:prstGeom prst="roundRect">
            <a:avLst>
              <a:gd name="adj" fmla="val 14000"/>
            </a:avLst>
          </a:prstGeom>
          <a:solidFill>
            <a:srgbClr val="1B20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1161288" y="2578608"/>
            <a:ext cx="2066543" cy="3200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1DD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271016" y="2688336"/>
            <a:ext cx="184708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750" b="0" i="0">
                <a:solidFill>
                  <a:srgbClr val="5B6470"/>
                </a:solidFill>
                <a:latin typeface="Consolas"/>
              </a:rPr>
              <a:t>MENTIBLE</a:t>
            </a:r>
          </a:p>
          <a:p>
            <a:pPr algn="l">
              <a:spcAft>
                <a:spcPts val="0"/>
              </a:spcAft>
            </a:pPr>
            <a:r>
              <a:rPr sz="1200" b="1" i="0">
                <a:solidFill>
                  <a:srgbClr val="1B2027"/>
                </a:solidFill>
                <a:latin typeface="Calibri"/>
              </a:rPr>
              <a:t>My Library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271016" y="3200400"/>
            <a:ext cx="82296" cy="701040"/>
          </a:xfrm>
          <a:prstGeom prst="roundRect">
            <a:avLst>
              <a:gd name="adj" fmla="val 50000"/>
            </a:avLst>
          </a:prstGeom>
          <a:solidFill>
            <a:srgbClr val="2F8F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453896" y="3145536"/>
            <a:ext cx="1700783" cy="8473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1" i="0">
                <a:solidFill>
                  <a:srgbClr val="1B2027"/>
                </a:solidFill>
                <a:latin typeface="Calibri"/>
              </a:rPr>
              <a:t>Photosynthesis, Explained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271016" y="4047744"/>
            <a:ext cx="82296" cy="701040"/>
          </a:xfrm>
          <a:prstGeom prst="roundRect">
            <a:avLst>
              <a:gd name="adj" fmla="val 50000"/>
            </a:avLst>
          </a:prstGeom>
          <a:solidFill>
            <a:srgbClr val="2E4A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453896" y="3992880"/>
            <a:ext cx="1700783" cy="8473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1" i="0">
                <a:solidFill>
                  <a:srgbClr val="1B2027"/>
                </a:solidFill>
                <a:latin typeface="Calibri"/>
              </a:rPr>
              <a:t>Intro to Statistics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1271016" y="4895088"/>
            <a:ext cx="82296" cy="701040"/>
          </a:xfrm>
          <a:prstGeom prst="roundRect">
            <a:avLst>
              <a:gd name="adj" fmla="val 50000"/>
            </a:avLst>
          </a:prstGeom>
          <a:solidFill>
            <a:srgbClr val="B582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453896" y="4840224"/>
            <a:ext cx="1700783" cy="8473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1" i="0">
                <a:solidFill>
                  <a:srgbClr val="1B2027"/>
                </a:solidFill>
                <a:latin typeface="Calibri"/>
              </a:rPr>
              <a:t>The Wealth of Nations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271016" y="5925312"/>
            <a:ext cx="1847088" cy="365760"/>
          </a:xfrm>
          <a:prstGeom prst="roundRect">
            <a:avLst>
              <a:gd name="adj" fmla="val 35000"/>
            </a:avLst>
          </a:prstGeom>
          <a:solidFill>
            <a:srgbClr val="FBFAF7"/>
          </a:solidFill>
          <a:ln w="12700">
            <a:solidFill>
              <a:srgbClr val="E1DD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271016" y="5925312"/>
            <a:ext cx="1847088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900" b="0" i="0">
                <a:solidFill>
                  <a:srgbClr val="5B6470"/>
                </a:solidFill>
                <a:latin typeface="Calibri"/>
              </a:rPr>
              <a:t>Search your shelf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023360" y="2606040"/>
            <a:ext cx="457200" cy="457200"/>
          </a:xfrm>
          <a:prstGeom prst="roundRect">
            <a:avLst>
              <a:gd name="adj" fmla="val 30000"/>
            </a:avLst>
          </a:prstGeom>
          <a:solidFill>
            <a:srgbClr val="E7F1EF"/>
          </a:solidFill>
          <a:ln w="15875">
            <a:solidFill>
              <a:srgbClr val="2F8F8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4133088" y="2651760"/>
            <a:ext cx="237744" cy="365760"/>
          </a:xfrm>
          <a:prstGeom prst="roundRect">
            <a:avLst>
              <a:gd name="adj" fmla="val 20000"/>
            </a:avLst>
          </a:prstGeom>
          <a:noFill/>
          <a:ln w="25400">
            <a:solidFill>
              <a:srgbClr val="2F8F8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210812" y="2935224"/>
            <a:ext cx="82296" cy="22860"/>
          </a:xfrm>
          <a:prstGeom prst="rect">
            <a:avLst/>
          </a:prstGeom>
          <a:solidFill>
            <a:srgbClr val="2F8F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681728" y="2560320"/>
            <a:ext cx="6748272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450" b="1" i="0">
                <a:solidFill>
                  <a:srgbClr val="1B2027"/>
                </a:solidFill>
                <a:latin typeface="Calibri"/>
              </a:rPr>
              <a:t>It's all on your device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50" b="0" i="0">
                <a:solidFill>
                  <a:srgbClr val="5B6470"/>
                </a:solidFill>
                <a:latin typeface="Calibri"/>
              </a:rPr>
              <a:t>Your books, drafts and lessons live here — not on anyone's server.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023360" y="3593592"/>
            <a:ext cx="457200" cy="457200"/>
          </a:xfrm>
          <a:prstGeom prst="roundRect">
            <a:avLst>
              <a:gd name="adj" fmla="val 30000"/>
            </a:avLst>
          </a:prstGeom>
          <a:solidFill>
            <a:srgbClr val="E7F1EF"/>
          </a:solidFill>
          <a:ln w="15875">
            <a:solidFill>
              <a:srgbClr val="2F8F8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Block Arc 23"/>
          <p:cNvSpPr/>
          <p:nvPr/>
        </p:nvSpPr>
        <p:spPr>
          <a:xfrm>
            <a:off x="4069080" y="3675887"/>
            <a:ext cx="365760" cy="365760"/>
          </a:xfrm>
          <a:prstGeom prst="blockArc">
            <a:avLst/>
          </a:prstGeom>
          <a:solidFill>
            <a:srgbClr val="2F8F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4206240" y="3895344"/>
            <a:ext cx="91440" cy="91440"/>
          </a:xfrm>
          <a:prstGeom prst="ellipse">
            <a:avLst/>
          </a:prstGeom>
          <a:solidFill>
            <a:srgbClr val="2F8F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 rot="2700000">
            <a:off x="4233672" y="3584448"/>
            <a:ext cx="41148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2F8F8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681728" y="3547872"/>
            <a:ext cx="6748272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450" b="1" i="0">
                <a:solidFill>
                  <a:srgbClr val="1B2027"/>
                </a:solidFill>
                <a:latin typeface="Calibri"/>
              </a:rPr>
              <a:t>Works offline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50" b="0" i="0">
                <a:solidFill>
                  <a:srgbClr val="5B6470"/>
                </a:solidFill>
                <a:latin typeface="Calibri"/>
              </a:rPr>
              <a:t>On a plane, on the subway — it just works, no signal needed.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023360" y="4581144"/>
            <a:ext cx="457200" cy="457200"/>
          </a:xfrm>
          <a:prstGeom prst="roundRect">
            <a:avLst>
              <a:gd name="adj" fmla="val 30000"/>
            </a:avLst>
          </a:prstGeom>
          <a:solidFill>
            <a:srgbClr val="E7F1EF"/>
          </a:solidFill>
          <a:ln w="15875">
            <a:solidFill>
              <a:srgbClr val="2F8F8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4142232" y="4608576"/>
            <a:ext cx="219456" cy="219456"/>
          </a:xfrm>
          <a:prstGeom prst="ellipse">
            <a:avLst/>
          </a:prstGeom>
          <a:noFill/>
          <a:ln w="25400">
            <a:solidFill>
              <a:srgbClr val="2F8F8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4105656" y="4754880"/>
            <a:ext cx="292608" cy="256032"/>
          </a:xfrm>
          <a:prstGeom prst="roundRect">
            <a:avLst>
              <a:gd name="adj" fmla="val 18000"/>
            </a:avLst>
          </a:prstGeom>
          <a:solidFill>
            <a:srgbClr val="2F8F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4219956" y="4837176"/>
            <a:ext cx="64008" cy="64008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681728" y="4535424"/>
            <a:ext cx="6748272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450" b="1" i="0">
                <a:solidFill>
                  <a:srgbClr val="1B2027"/>
                </a:solidFill>
                <a:latin typeface="Calibri"/>
              </a:rPr>
              <a:t>Only you can see it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50" b="0" i="0">
                <a:solidFill>
                  <a:srgbClr val="5B6470"/>
                </a:solidFill>
                <a:latin typeface="Calibri"/>
              </a:rPr>
              <a:t>Nothing leaves the device, so there's nothing for us to see.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4023360" y="5568696"/>
            <a:ext cx="457200" cy="457200"/>
          </a:xfrm>
          <a:prstGeom prst="roundRect">
            <a:avLst>
              <a:gd name="adj" fmla="val 30000"/>
            </a:avLst>
          </a:prstGeom>
          <a:solidFill>
            <a:srgbClr val="E7F1EF"/>
          </a:solidFill>
          <a:ln w="15875">
            <a:solidFill>
              <a:srgbClr val="2F8F8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5-Point Star 33"/>
          <p:cNvSpPr/>
          <p:nvPr/>
        </p:nvSpPr>
        <p:spPr>
          <a:xfrm>
            <a:off x="4069080" y="5614416"/>
            <a:ext cx="365760" cy="365760"/>
          </a:xfrm>
          <a:prstGeom prst="star5">
            <a:avLst/>
          </a:prstGeom>
          <a:solidFill>
            <a:srgbClr val="2F8F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681728" y="5522976"/>
            <a:ext cx="6748272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450" b="1" i="0">
                <a:solidFill>
                  <a:srgbClr val="1B2027"/>
                </a:solidFill>
                <a:latin typeface="Calibri"/>
              </a:rPr>
              <a:t>Free — no account needed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50" b="0" i="0">
                <a:solidFill>
                  <a:srgbClr val="5B6470"/>
                </a:solidFill>
                <a:latin typeface="Calibri"/>
              </a:rPr>
              <a:t>Open the app and start. No sign-up, no cost.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A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822960" y="548640"/>
            <a:ext cx="2464308" cy="384048"/>
          </a:xfrm>
          <a:prstGeom prst="roundRect">
            <a:avLst>
              <a:gd name="adj" fmla="val 50000"/>
            </a:avLst>
          </a:prstGeom>
          <a:solidFill>
            <a:srgbClr val="F6EEDD"/>
          </a:solidFill>
          <a:ln w="12700">
            <a:solidFill>
              <a:srgbClr val="B582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548640"/>
            <a:ext cx="246430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200" b="1" i="0">
                <a:solidFill>
                  <a:srgbClr val="B5822E"/>
                </a:solidFill>
                <a:latin typeface="Calibri"/>
              </a:rPr>
              <a:t>  PAID · PRIVATE HOSTED</a:t>
            </a:r>
          </a:p>
        </p:txBody>
      </p:sp>
      <p:sp>
        <p:nvSpPr>
          <p:cNvPr id="5" name="Oval 4"/>
          <p:cNvSpPr/>
          <p:nvPr/>
        </p:nvSpPr>
        <p:spPr>
          <a:xfrm>
            <a:off x="950976" y="667512"/>
            <a:ext cx="146304" cy="146304"/>
          </a:xfrm>
          <a:prstGeom prst="ellipse">
            <a:avLst/>
          </a:prstGeom>
          <a:solidFill>
            <a:srgbClr val="B582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1051560"/>
            <a:ext cx="105156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900" b="1" i="0">
                <a:solidFill>
                  <a:srgbClr val="1B2027"/>
                </a:solidFill>
                <a:latin typeface="Georgia"/>
              </a:rPr>
              <a:t>A private library that follows you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1737360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0" i="0">
                <a:solidFill>
                  <a:srgbClr val="5B6470"/>
                </a:solidFill>
                <a:latin typeface="Calibri"/>
              </a:rPr>
              <a:t>Open the same library on your phone, tablet, or the web — always up to date.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22960" y="2514600"/>
            <a:ext cx="457200" cy="457200"/>
          </a:xfrm>
          <a:prstGeom prst="roundRect">
            <a:avLst>
              <a:gd name="adj" fmla="val 30000"/>
            </a:avLst>
          </a:prstGeom>
          <a:solidFill>
            <a:srgbClr val="F6EEDD"/>
          </a:solidFill>
          <a:ln w="15875">
            <a:solidFill>
              <a:srgbClr val="B582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1033271" y="2569464"/>
            <a:ext cx="201168" cy="329184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25400">
            <a:solidFill>
              <a:srgbClr val="B582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868680" y="2688336"/>
            <a:ext cx="146304" cy="23774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25400">
            <a:solidFill>
              <a:srgbClr val="B582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481328" y="2468880"/>
            <a:ext cx="3913632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450" b="1" i="0">
                <a:solidFill>
                  <a:srgbClr val="1B2027"/>
                </a:solidFill>
                <a:latin typeface="Calibri"/>
              </a:rPr>
              <a:t>Same library everywhere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50" b="0" i="0">
                <a:solidFill>
                  <a:srgbClr val="5B6470"/>
                </a:solidFill>
                <a:latin typeface="Calibri"/>
              </a:rPr>
              <a:t>Start on your phone, finish on your laptop — it's already there.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22960" y="3474720"/>
            <a:ext cx="457200" cy="457200"/>
          </a:xfrm>
          <a:prstGeom prst="roundRect">
            <a:avLst>
              <a:gd name="adj" fmla="val 30000"/>
            </a:avLst>
          </a:prstGeom>
          <a:solidFill>
            <a:srgbClr val="F6EEDD"/>
          </a:solidFill>
          <a:ln w="15875">
            <a:solidFill>
              <a:srgbClr val="B582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896111" y="3529584"/>
            <a:ext cx="256032" cy="256032"/>
          </a:xfrm>
          <a:prstGeom prst="ellipse">
            <a:avLst/>
          </a:prstGeom>
          <a:noFill/>
          <a:ln w="25400">
            <a:solidFill>
              <a:srgbClr val="B582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 rot="18900000">
            <a:off x="1115568" y="3767328"/>
            <a:ext cx="36576" cy="146304"/>
          </a:xfrm>
          <a:prstGeom prst="roundRect">
            <a:avLst>
              <a:gd name="adj" fmla="val 50000"/>
            </a:avLst>
          </a:prstGeom>
          <a:solidFill>
            <a:srgbClr val="B582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481328" y="3429000"/>
            <a:ext cx="3913632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450" b="1" i="0">
                <a:solidFill>
                  <a:srgbClr val="1B2027"/>
                </a:solidFill>
                <a:latin typeface="Calibri"/>
              </a:rPr>
              <a:t>Search everything you've written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50" b="0" i="0">
                <a:solidFill>
                  <a:srgbClr val="5B6470"/>
                </a:solidFill>
                <a:latin typeface="Calibri"/>
              </a:rPr>
              <a:t>Ask a question, get answers from across your whole library.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22960" y="4434840"/>
            <a:ext cx="457200" cy="457200"/>
          </a:xfrm>
          <a:prstGeom prst="roundRect">
            <a:avLst>
              <a:gd name="adj" fmla="val 30000"/>
            </a:avLst>
          </a:prstGeom>
          <a:solidFill>
            <a:srgbClr val="F6EEDD"/>
          </a:solidFill>
          <a:ln w="15875">
            <a:solidFill>
              <a:srgbClr val="B582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41831" y="4462272"/>
            <a:ext cx="219456" cy="219456"/>
          </a:xfrm>
          <a:prstGeom prst="ellipse">
            <a:avLst/>
          </a:prstGeom>
          <a:noFill/>
          <a:ln w="25400">
            <a:solidFill>
              <a:srgbClr val="B582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905255" y="4608576"/>
            <a:ext cx="292608" cy="256032"/>
          </a:xfrm>
          <a:prstGeom prst="roundRect">
            <a:avLst>
              <a:gd name="adj" fmla="val 18000"/>
            </a:avLst>
          </a:prstGeom>
          <a:solidFill>
            <a:srgbClr val="B582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19556" y="4690872"/>
            <a:ext cx="64008" cy="64008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481328" y="4389120"/>
            <a:ext cx="3913632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450" b="1" i="0">
                <a:solidFill>
                  <a:srgbClr val="1B2027"/>
                </a:solidFill>
                <a:latin typeface="Calibri"/>
              </a:rPr>
              <a:t>Private to you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50" b="0" i="0">
                <a:solidFill>
                  <a:srgbClr val="5B6470"/>
                </a:solidFill>
                <a:latin typeface="Calibri"/>
              </a:rPr>
              <a:t>Yours alone — never shared, never used to profile you.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22960" y="5394960"/>
            <a:ext cx="457200" cy="457200"/>
          </a:xfrm>
          <a:prstGeom prst="roundRect">
            <a:avLst>
              <a:gd name="adj" fmla="val 30000"/>
            </a:avLst>
          </a:prstGeom>
          <a:solidFill>
            <a:srgbClr val="F6EEDD"/>
          </a:solidFill>
          <a:ln w="15875">
            <a:solidFill>
              <a:srgbClr val="B582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Up Arrow 21"/>
          <p:cNvSpPr/>
          <p:nvPr/>
        </p:nvSpPr>
        <p:spPr>
          <a:xfrm>
            <a:off x="914399" y="5440680"/>
            <a:ext cx="274320" cy="365760"/>
          </a:xfrm>
          <a:prstGeom prst="upArrow">
            <a:avLst/>
          </a:prstGeom>
          <a:solidFill>
            <a:srgbClr val="B582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481328" y="5349240"/>
            <a:ext cx="3913632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450" b="1" i="0">
                <a:solidFill>
                  <a:srgbClr val="1B2027"/>
                </a:solidFill>
                <a:latin typeface="Calibri"/>
              </a:rPr>
              <a:t>Room to grow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50" b="0" i="0">
                <a:solidFill>
                  <a:srgbClr val="5B6470"/>
                </a:solidFill>
                <a:latin typeface="Calibri"/>
              </a:rPr>
              <a:t>Comes with a starting storage &amp; usage allowance; upgrade for more.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943600" y="2468880"/>
            <a:ext cx="4206240" cy="21031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1DD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053328" y="2578608"/>
            <a:ext cx="398678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750" b="0" i="0">
                <a:solidFill>
                  <a:srgbClr val="5B6470"/>
                </a:solidFill>
                <a:latin typeface="Consolas"/>
              </a:rPr>
              <a:t>WEB</a:t>
            </a:r>
          </a:p>
          <a:p>
            <a:pPr algn="l">
              <a:spcAft>
                <a:spcPts val="0"/>
              </a:spcAft>
            </a:pPr>
            <a:r>
              <a:rPr sz="1100" b="1" i="0">
                <a:solidFill>
                  <a:srgbClr val="1B2027"/>
                </a:solidFill>
                <a:latin typeface="Calibri"/>
              </a:rPr>
              <a:t>My Library — all devices in sync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053328" y="3090672"/>
            <a:ext cx="82296" cy="335279"/>
          </a:xfrm>
          <a:prstGeom prst="roundRect">
            <a:avLst>
              <a:gd name="adj" fmla="val 50000"/>
            </a:avLst>
          </a:prstGeom>
          <a:solidFill>
            <a:srgbClr val="2F8F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236208" y="3035808"/>
            <a:ext cx="3840479" cy="48158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1" i="0">
                <a:solidFill>
                  <a:srgbClr val="1B2027"/>
                </a:solidFill>
                <a:latin typeface="Calibri"/>
              </a:rPr>
              <a:t>Photosynthesis, Explained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053328" y="3572256"/>
            <a:ext cx="82296" cy="335279"/>
          </a:xfrm>
          <a:prstGeom prst="roundRect">
            <a:avLst>
              <a:gd name="adj" fmla="val 50000"/>
            </a:avLst>
          </a:prstGeom>
          <a:solidFill>
            <a:srgbClr val="2E4A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236208" y="3517392"/>
            <a:ext cx="3840479" cy="48158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1" i="0">
                <a:solidFill>
                  <a:srgbClr val="1B2027"/>
                </a:solidFill>
                <a:latin typeface="Calibri"/>
              </a:rPr>
              <a:t>Intro to Statistics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053328" y="4053839"/>
            <a:ext cx="82296" cy="335279"/>
          </a:xfrm>
          <a:prstGeom prst="roundRect">
            <a:avLst>
              <a:gd name="adj" fmla="val 50000"/>
            </a:avLst>
          </a:prstGeom>
          <a:solidFill>
            <a:srgbClr val="B582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236208" y="3998975"/>
            <a:ext cx="3840479" cy="48158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1" i="0">
                <a:solidFill>
                  <a:srgbClr val="1B2027"/>
                </a:solidFill>
                <a:latin typeface="Calibri"/>
              </a:rPr>
              <a:t>The Wealth of Nations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5394960" y="4590288"/>
            <a:ext cx="5303520" cy="137160"/>
          </a:xfrm>
          <a:prstGeom prst="roundRect">
            <a:avLst>
              <a:gd name="adj" fmla="val 50000"/>
            </a:avLst>
          </a:prstGeom>
          <a:solidFill>
            <a:srgbClr val="1B20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852160" y="4773168"/>
            <a:ext cx="44805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1" i="0">
                <a:solidFill>
                  <a:srgbClr val="B5822E"/>
                </a:solidFill>
                <a:latin typeface="Calibri"/>
              </a:rPr>
              <a:t>One private library · every device shows the same shelf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5943600" y="5230368"/>
            <a:ext cx="2011680" cy="1143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1DD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053328" y="5340096"/>
            <a:ext cx="179222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750" b="0" i="0">
                <a:solidFill>
                  <a:srgbClr val="5B6470"/>
                </a:solidFill>
                <a:latin typeface="Consolas"/>
              </a:rPr>
              <a:t>PHONE</a:t>
            </a:r>
          </a:p>
          <a:p>
            <a:pPr algn="l">
              <a:spcAft>
                <a:spcPts val="0"/>
              </a:spcAft>
            </a:pPr>
            <a:r>
              <a:rPr sz="850" b="1" i="0">
                <a:solidFill>
                  <a:srgbClr val="1B2027"/>
                </a:solidFill>
                <a:latin typeface="Calibri"/>
              </a:rPr>
              <a:t>Library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6053328" y="5852159"/>
            <a:ext cx="82296" cy="96012"/>
          </a:xfrm>
          <a:prstGeom prst="roundRect">
            <a:avLst>
              <a:gd name="adj" fmla="val 50000"/>
            </a:avLst>
          </a:prstGeom>
          <a:solidFill>
            <a:srgbClr val="2F8F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236208" y="5797296"/>
            <a:ext cx="1645920" cy="24231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750" b="1" i="0">
                <a:solidFill>
                  <a:srgbClr val="1B2027"/>
                </a:solidFill>
                <a:latin typeface="Calibri"/>
              </a:rPr>
              <a:t>Photosynth…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6053328" y="6094475"/>
            <a:ext cx="82296" cy="96012"/>
          </a:xfrm>
          <a:prstGeom prst="roundRect">
            <a:avLst>
              <a:gd name="adj" fmla="val 50000"/>
            </a:avLst>
          </a:prstGeom>
          <a:solidFill>
            <a:srgbClr val="2E4A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236208" y="6039612"/>
            <a:ext cx="1645920" cy="24231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750" b="1" i="0">
                <a:solidFill>
                  <a:srgbClr val="1B2027"/>
                </a:solidFill>
                <a:latin typeface="Calibri"/>
              </a:rPr>
              <a:t>Statistics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8183879" y="5230368"/>
            <a:ext cx="2057400" cy="1143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1DD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293607" y="5340096"/>
            <a:ext cx="183794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750" b="0" i="0">
                <a:solidFill>
                  <a:srgbClr val="5B6470"/>
                </a:solidFill>
                <a:latin typeface="Consolas"/>
              </a:rPr>
              <a:t>TABLET</a:t>
            </a:r>
          </a:p>
          <a:p>
            <a:pPr algn="l">
              <a:spcAft>
                <a:spcPts val="0"/>
              </a:spcAft>
            </a:pPr>
            <a:r>
              <a:rPr sz="850" b="1" i="0">
                <a:solidFill>
                  <a:srgbClr val="1B2027"/>
                </a:solidFill>
                <a:latin typeface="Calibri"/>
              </a:rPr>
              <a:t>Library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8293607" y="5852159"/>
            <a:ext cx="82296" cy="96012"/>
          </a:xfrm>
          <a:prstGeom prst="roundRect">
            <a:avLst>
              <a:gd name="adj" fmla="val 50000"/>
            </a:avLst>
          </a:prstGeom>
          <a:solidFill>
            <a:srgbClr val="2F8F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8476487" y="5797296"/>
            <a:ext cx="1691639" cy="24231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750" b="1" i="0">
                <a:solidFill>
                  <a:srgbClr val="1B2027"/>
                </a:solidFill>
                <a:latin typeface="Calibri"/>
              </a:rPr>
              <a:t>Photosynthesis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8293607" y="6094475"/>
            <a:ext cx="82296" cy="96012"/>
          </a:xfrm>
          <a:prstGeom prst="roundRect">
            <a:avLst>
              <a:gd name="adj" fmla="val 50000"/>
            </a:avLst>
          </a:prstGeom>
          <a:solidFill>
            <a:srgbClr val="B582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8476487" y="6039612"/>
            <a:ext cx="1691639" cy="24231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750" b="1" i="0">
                <a:solidFill>
                  <a:srgbClr val="1B2027"/>
                </a:solidFill>
                <a:latin typeface="Calibri"/>
              </a:rPr>
              <a:t>Wealth of…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A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822960" y="548640"/>
            <a:ext cx="2176272" cy="384048"/>
          </a:xfrm>
          <a:prstGeom prst="roundRect">
            <a:avLst>
              <a:gd name="adj" fmla="val 50000"/>
            </a:avLst>
          </a:prstGeom>
          <a:solidFill>
            <a:srgbClr val="F6EEDD"/>
          </a:solidFill>
          <a:ln w="12700">
            <a:solidFill>
              <a:srgbClr val="B582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548640"/>
            <a:ext cx="2176272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200" b="1" i="0">
                <a:solidFill>
                  <a:srgbClr val="B5822E"/>
                </a:solidFill>
                <a:latin typeface="Calibri"/>
              </a:rPr>
              <a:t>  PAID · IN PRACTICE</a:t>
            </a:r>
          </a:p>
        </p:txBody>
      </p:sp>
      <p:sp>
        <p:nvSpPr>
          <p:cNvPr id="5" name="Oval 4"/>
          <p:cNvSpPr/>
          <p:nvPr/>
        </p:nvSpPr>
        <p:spPr>
          <a:xfrm>
            <a:off x="950976" y="667512"/>
            <a:ext cx="146304" cy="146304"/>
          </a:xfrm>
          <a:prstGeom prst="ellipse">
            <a:avLst/>
          </a:prstGeom>
          <a:solidFill>
            <a:srgbClr val="B582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1051560"/>
            <a:ext cx="105156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1" i="0">
                <a:solidFill>
                  <a:srgbClr val="1B2027"/>
                </a:solidFill>
                <a:latin typeface="Georgia"/>
              </a:rPr>
              <a:t>One day, three devices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1737360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0" i="0">
                <a:solidFill>
                  <a:srgbClr val="5B6470"/>
                </a:solidFill>
                <a:latin typeface="Calibri"/>
              </a:rPr>
              <a:t>Start on one device, finish on another — your library is simply there.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5711" y="2880360"/>
            <a:ext cx="2542032" cy="2514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1DD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1318107" y="3172968"/>
            <a:ext cx="777240" cy="777240"/>
          </a:xfrm>
          <a:prstGeom prst="roundRect">
            <a:avLst>
              <a:gd name="adj" fmla="val 25000"/>
            </a:avLst>
          </a:prstGeom>
          <a:solidFill>
            <a:srgbClr val="E6ECF4"/>
          </a:solidFill>
          <a:ln w="12700">
            <a:solidFill>
              <a:srgbClr val="2E4A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1587855" y="3378708"/>
            <a:ext cx="237744" cy="365760"/>
          </a:xfrm>
          <a:prstGeom prst="roundRect">
            <a:avLst>
              <a:gd name="adj" fmla="val 20000"/>
            </a:avLst>
          </a:prstGeom>
          <a:noFill/>
          <a:ln w="25400">
            <a:solidFill>
              <a:srgbClr val="2E4A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665579" y="3662172"/>
            <a:ext cx="82296" cy="22860"/>
          </a:xfrm>
          <a:prstGeom prst="rect">
            <a:avLst/>
          </a:prstGeom>
          <a:solidFill>
            <a:srgbClr val="2E4A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18591" y="4160520"/>
            <a:ext cx="217627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1" i="0">
                <a:solidFill>
                  <a:srgbClr val="2E4A6B"/>
                </a:solidFill>
                <a:latin typeface="Consolas"/>
              </a:rPr>
              <a:t>ON THE TRAIN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1743" y="4480560"/>
            <a:ext cx="2029967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1200" b="0" i="0">
                <a:solidFill>
                  <a:srgbClr val="1B2027"/>
                </a:solidFill>
                <a:latin typeface="Calibri"/>
              </a:rPr>
              <a:t>Draft a chapter on your phone.</a:t>
            </a:r>
          </a:p>
        </p:txBody>
      </p:sp>
      <p:sp>
        <p:nvSpPr>
          <p:cNvPr id="14" name="Chevron 13"/>
          <p:cNvSpPr/>
          <p:nvPr/>
        </p:nvSpPr>
        <p:spPr>
          <a:xfrm>
            <a:off x="3023463" y="3982212"/>
            <a:ext cx="292608" cy="310896"/>
          </a:xfrm>
          <a:prstGeom prst="chevron">
            <a:avLst/>
          </a:prstGeom>
          <a:solidFill>
            <a:srgbClr val="E1DD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3361791" y="2880360"/>
            <a:ext cx="2542032" cy="2514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2225">
            <a:solidFill>
              <a:srgbClr val="B582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4244187" y="3172968"/>
            <a:ext cx="777240" cy="777240"/>
          </a:xfrm>
          <a:prstGeom prst="roundRect">
            <a:avLst>
              <a:gd name="adj" fmla="val 25000"/>
            </a:avLst>
          </a:prstGeom>
          <a:solidFill>
            <a:srgbClr val="F6EEDD"/>
          </a:solidFill>
          <a:ln w="12700">
            <a:solidFill>
              <a:srgbClr val="B582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4523079" y="3360420"/>
            <a:ext cx="219456" cy="219456"/>
          </a:xfrm>
          <a:prstGeom prst="ellipse">
            <a:avLst/>
          </a:prstGeom>
          <a:noFill/>
          <a:ln w="25400">
            <a:solidFill>
              <a:srgbClr val="B582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4486503" y="3506724"/>
            <a:ext cx="292608" cy="256032"/>
          </a:xfrm>
          <a:prstGeom prst="roundRect">
            <a:avLst>
              <a:gd name="adj" fmla="val 18000"/>
            </a:avLst>
          </a:prstGeom>
          <a:solidFill>
            <a:srgbClr val="B582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4600803" y="3589020"/>
            <a:ext cx="64008" cy="64008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544671" y="4160520"/>
            <a:ext cx="217627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1" i="0">
                <a:solidFill>
                  <a:srgbClr val="B5822E"/>
                </a:solidFill>
                <a:latin typeface="Consolas"/>
              </a:rPr>
              <a:t>INSTANTLY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617823" y="4480560"/>
            <a:ext cx="2029967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1200" b="0" i="0">
                <a:solidFill>
                  <a:srgbClr val="1B2027"/>
                </a:solidFill>
                <a:latin typeface="Calibri"/>
              </a:rPr>
              <a:t>Saved to your private library — encrypted.</a:t>
            </a:r>
          </a:p>
        </p:txBody>
      </p:sp>
      <p:sp>
        <p:nvSpPr>
          <p:cNvPr id="22" name="Chevron 21"/>
          <p:cNvSpPr/>
          <p:nvPr/>
        </p:nvSpPr>
        <p:spPr>
          <a:xfrm>
            <a:off x="5949543" y="3982212"/>
            <a:ext cx="292608" cy="310896"/>
          </a:xfrm>
          <a:prstGeom prst="chevron">
            <a:avLst/>
          </a:prstGeom>
          <a:solidFill>
            <a:srgbClr val="E1DD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6287871" y="2880360"/>
            <a:ext cx="2542032" cy="2514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1DD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7170267" y="3172968"/>
            <a:ext cx="777240" cy="777240"/>
          </a:xfrm>
          <a:prstGeom prst="roundRect">
            <a:avLst>
              <a:gd name="adj" fmla="val 25000"/>
            </a:avLst>
          </a:prstGeom>
          <a:solidFill>
            <a:srgbClr val="E6ECF4"/>
          </a:solidFill>
          <a:ln w="12700">
            <a:solidFill>
              <a:srgbClr val="2E4A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7376007" y="3415284"/>
            <a:ext cx="365760" cy="292608"/>
          </a:xfrm>
          <a:prstGeom prst="roundRect">
            <a:avLst>
              <a:gd name="adj" fmla="val 12000"/>
            </a:avLst>
          </a:prstGeom>
          <a:noFill/>
          <a:ln w="25400">
            <a:solidFill>
              <a:srgbClr val="2E4A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70751" y="4160520"/>
            <a:ext cx="217627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1" i="0">
                <a:solidFill>
                  <a:srgbClr val="2E4A6B"/>
                </a:solidFill>
                <a:latin typeface="Consolas"/>
              </a:rPr>
              <a:t>AT HOME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543903" y="4480560"/>
            <a:ext cx="2029967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1200" b="0" i="0">
                <a:solidFill>
                  <a:srgbClr val="1B2027"/>
                </a:solidFill>
                <a:latin typeface="Calibri"/>
              </a:rPr>
              <a:t>Open the tablet — it's already there.</a:t>
            </a:r>
          </a:p>
        </p:txBody>
      </p:sp>
      <p:sp>
        <p:nvSpPr>
          <p:cNvPr id="28" name="Chevron 27"/>
          <p:cNvSpPr/>
          <p:nvPr/>
        </p:nvSpPr>
        <p:spPr>
          <a:xfrm>
            <a:off x="8875623" y="3982212"/>
            <a:ext cx="292608" cy="310896"/>
          </a:xfrm>
          <a:prstGeom prst="chevron">
            <a:avLst/>
          </a:prstGeom>
          <a:solidFill>
            <a:srgbClr val="E1DD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9213951" y="2880360"/>
            <a:ext cx="2542032" cy="2514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1DD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10096347" y="3172968"/>
            <a:ext cx="777240" cy="777240"/>
          </a:xfrm>
          <a:prstGeom prst="roundRect">
            <a:avLst>
              <a:gd name="adj" fmla="val 25000"/>
            </a:avLst>
          </a:prstGeom>
          <a:solidFill>
            <a:srgbClr val="E6ECF4"/>
          </a:solidFill>
          <a:ln w="12700">
            <a:solidFill>
              <a:srgbClr val="2E4A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10302087" y="3378708"/>
            <a:ext cx="365760" cy="274320"/>
          </a:xfrm>
          <a:prstGeom prst="roundRect">
            <a:avLst>
              <a:gd name="adj" fmla="val 10000"/>
            </a:avLst>
          </a:prstGeom>
          <a:noFill/>
          <a:ln w="25400">
            <a:solidFill>
              <a:srgbClr val="2E4A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10238079" y="3653028"/>
            <a:ext cx="493776" cy="45720"/>
          </a:xfrm>
          <a:prstGeom prst="rect">
            <a:avLst/>
          </a:prstGeom>
          <a:solidFill>
            <a:srgbClr val="2E4A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9396831" y="4160520"/>
            <a:ext cx="217627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1" i="0">
                <a:solidFill>
                  <a:srgbClr val="2E4A6B"/>
                </a:solidFill>
                <a:latin typeface="Consolas"/>
              </a:rPr>
              <a:t>LATER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469983" y="4480560"/>
            <a:ext cx="2029967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1200" b="0" i="0">
                <a:solidFill>
                  <a:srgbClr val="1B2027"/>
                </a:solidFill>
                <a:latin typeface="Calibri"/>
              </a:rPr>
              <a:t>Publish from your laptop — now on every device.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22960" y="5760720"/>
            <a:ext cx="10515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150" b="0" i="1">
                <a:solidFill>
                  <a:srgbClr val="5B6470"/>
                </a:solidFill>
                <a:latin typeface="Calibri"/>
              </a:rPr>
              <a:t>No copying files around, no “which device has the latest?” — the library is the source of truth.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A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10515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 i="0">
                <a:solidFill>
                  <a:srgbClr val="5B6470"/>
                </a:solidFill>
                <a:latin typeface="Consolas"/>
              </a:rPr>
              <a:t>THREE PICTURES TO EXPLAIN 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914400"/>
            <a:ext cx="105156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1" i="0">
                <a:solidFill>
                  <a:srgbClr val="1B2027"/>
                </a:solidFill>
                <a:latin typeface="Georgia"/>
              </a:rPr>
              <a:t>Three pictures to explain it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627632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0" i="0">
                <a:solidFill>
                  <a:srgbClr val="5B6470"/>
                </a:solidFill>
                <a:latin typeface="Calibri"/>
              </a:rPr>
              <a:t>Each is a plain-language way to describe the choice.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3163" y="2468880"/>
            <a:ext cx="3429000" cy="37033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1DD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080363" y="2788920"/>
            <a:ext cx="2514600" cy="1234440"/>
          </a:xfrm>
          <a:prstGeom prst="roundRect">
            <a:avLst>
              <a:gd name="adj" fmla="val 8000"/>
            </a:avLst>
          </a:prstGeom>
          <a:solidFill>
            <a:srgbClr val="E7F1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880463" y="2971800"/>
            <a:ext cx="914400" cy="86868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22225">
            <a:solidFill>
              <a:srgbClr val="2F8F8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2045055" y="3118104"/>
            <a:ext cx="585216" cy="73152"/>
          </a:xfrm>
          <a:prstGeom prst="roundRect">
            <a:avLst>
              <a:gd name="adj" fmla="val 50000"/>
            </a:avLst>
          </a:prstGeom>
          <a:solidFill>
            <a:srgbClr val="2F8F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2045055" y="3291840"/>
            <a:ext cx="585216" cy="73152"/>
          </a:xfrm>
          <a:prstGeom prst="roundRect">
            <a:avLst>
              <a:gd name="adj" fmla="val 50000"/>
            </a:avLst>
          </a:prstGeom>
          <a:solidFill>
            <a:srgbClr val="2E4A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2045055" y="3465576"/>
            <a:ext cx="585216" cy="73152"/>
          </a:xfrm>
          <a:prstGeom prst="roundRect">
            <a:avLst>
              <a:gd name="adj" fmla="val 50000"/>
            </a:avLst>
          </a:prstGeom>
          <a:solidFill>
            <a:srgbClr val="B582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97483" y="4251960"/>
            <a:ext cx="28803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1" i="0">
                <a:solidFill>
                  <a:srgbClr val="2F8F83"/>
                </a:solidFill>
                <a:latin typeface="Consolas"/>
              </a:rPr>
              <a:t>FREE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43203" y="4572000"/>
            <a:ext cx="27889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650" b="1" i="0">
                <a:solidFill>
                  <a:srgbClr val="1B2027"/>
                </a:solidFill>
                <a:latin typeface="Georgia"/>
              </a:rPr>
              <a:t>A notebook in your bag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88923" y="5257800"/>
            <a:ext cx="269748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0"/>
              </a:spcAft>
            </a:pPr>
            <a:r>
              <a:rPr sz="1150" b="0" i="0">
                <a:solidFill>
                  <a:srgbClr val="5B6470"/>
                </a:solidFill>
                <a:latin typeface="Calibri"/>
              </a:rPr>
              <a:t>Always with you, works anywhere, only you open it — but it lives in one place.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381347" y="2468880"/>
            <a:ext cx="3429000" cy="37033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1DD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4838547" y="2788920"/>
            <a:ext cx="2514600" cy="1234440"/>
          </a:xfrm>
          <a:prstGeom prst="roundRect">
            <a:avLst>
              <a:gd name="adj" fmla="val 8000"/>
            </a:avLst>
          </a:prstGeom>
          <a:solidFill>
            <a:srgbClr val="F6EE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5684367" y="3200400"/>
            <a:ext cx="822960" cy="566928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22225">
            <a:solidFill>
              <a:srgbClr val="B582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6050127" y="3044952"/>
            <a:ext cx="91440" cy="91440"/>
          </a:xfrm>
          <a:prstGeom prst="ellipse">
            <a:avLst/>
          </a:prstGeom>
          <a:solidFill>
            <a:srgbClr val="B582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4907127" y="2971800"/>
            <a:ext cx="219456" cy="21945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B582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7193127" y="2971800"/>
            <a:ext cx="219456" cy="21945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B582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4907127" y="3794760"/>
            <a:ext cx="219456" cy="21945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B582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7193127" y="3794760"/>
            <a:ext cx="219456" cy="21945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B582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655667" y="4251960"/>
            <a:ext cx="28803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1" i="0">
                <a:solidFill>
                  <a:srgbClr val="B5822E"/>
                </a:solidFill>
                <a:latin typeface="Consolas"/>
              </a:rPr>
              <a:t>PAID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701387" y="4572000"/>
            <a:ext cx="27889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650" b="1" i="0">
                <a:solidFill>
                  <a:srgbClr val="1B2027"/>
                </a:solidFill>
                <a:latin typeface="Georgia"/>
              </a:rPr>
              <a:t>A private study that follows you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747107" y="5257800"/>
            <a:ext cx="269748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0"/>
              </a:spcAft>
            </a:pPr>
            <a:r>
              <a:rPr sz="1150" b="0" i="0">
                <a:solidFill>
                  <a:srgbClr val="5B6470"/>
                </a:solidFill>
                <a:latin typeface="Calibri"/>
              </a:rPr>
              <a:t>One private room holds your whole library; every device is a door into the same room.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139531" y="2468880"/>
            <a:ext cx="3429000" cy="37033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1DD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8596731" y="2788920"/>
            <a:ext cx="2514600" cy="1234440"/>
          </a:xfrm>
          <a:prstGeom prst="roundRect">
            <a:avLst>
              <a:gd name="adj" fmla="val 8000"/>
            </a:avLst>
          </a:prstGeom>
          <a:solidFill>
            <a:srgbClr val="E6E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9287103" y="2990088"/>
            <a:ext cx="1133856" cy="93268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22225">
            <a:solidFill>
              <a:srgbClr val="2E4A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9698583" y="3218688"/>
            <a:ext cx="310896" cy="310896"/>
          </a:xfrm>
          <a:prstGeom prst="ellipse">
            <a:avLst/>
          </a:prstGeom>
          <a:noFill/>
          <a:ln w="28575">
            <a:solidFill>
              <a:srgbClr val="2E4A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9643719" y="3364992"/>
            <a:ext cx="420624" cy="329184"/>
          </a:xfrm>
          <a:prstGeom prst="roundRect">
            <a:avLst>
              <a:gd name="adj" fmla="val 22000"/>
            </a:avLst>
          </a:prstGeom>
          <a:solidFill>
            <a:srgbClr val="2E4A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9812883" y="3465576"/>
            <a:ext cx="82296" cy="82296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413851" y="4251960"/>
            <a:ext cx="28803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1" i="0">
                <a:solidFill>
                  <a:srgbClr val="2E4A6B"/>
                </a:solidFill>
                <a:latin typeface="Consolas"/>
              </a:rPr>
              <a:t>EITHER WAY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459571" y="4572000"/>
            <a:ext cx="27889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650" b="1" i="0">
                <a:solidFill>
                  <a:srgbClr val="1B2027"/>
                </a:solidFill>
                <a:latin typeface="Georgia"/>
              </a:rPr>
              <a:t>A locked room only you enter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505291" y="5257800"/>
            <a:ext cx="269748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0"/>
              </a:spcAft>
            </a:pPr>
            <a:r>
              <a:rPr sz="1150" b="0" i="0">
                <a:solidFill>
                  <a:srgbClr val="5B6470"/>
                </a:solidFill>
                <a:latin typeface="Calibri"/>
              </a:rPr>
              <a:t>Both tiers are private. Free keeps the key on your device; paid keeps your room locked on our side.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A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10515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 i="0">
                <a:solidFill>
                  <a:srgbClr val="5B6470"/>
                </a:solidFill>
                <a:latin typeface="Consolas"/>
              </a:rPr>
              <a:t>SIDE BY SIDE — NO JARGON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914400"/>
            <a:ext cx="105156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1" i="0">
                <a:solidFill>
                  <a:srgbClr val="1B2027"/>
                </a:solidFill>
                <a:latin typeface="Georgia"/>
              </a:rPr>
              <a:t>Side by side — no jargon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627632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0" i="0">
                <a:solidFill>
                  <a:srgbClr val="5B6470"/>
                </a:solidFill>
                <a:latin typeface="Calibri"/>
              </a:rPr>
              <a:t>The whole decision in one table.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822960" y="2331720"/>
          <a:ext cx="10515600" cy="3840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297680"/>
                <a:gridCol w="3108960"/>
                <a:gridCol w="3108960"/>
              </a:tblGrid>
              <a:tr h="548640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1B2027"/>
                          </a:solidFill>
                          <a:latin typeface="Consolas"/>
                        </a:rPr>
                        <a:t/>
                      </a:r>
                    </a:p>
                  </a:txBody>
                  <a:tcPr marL="128016" marR="91440" marT="54864" marB="54864" anchor="ctr">
                    <a:solidFill>
                      <a:srgbClr val="FBFA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F8F83"/>
                          </a:solidFill>
                          <a:latin typeface="Consolas"/>
                        </a:rPr>
                        <a:t>Free · on device</a:t>
                      </a:r>
                    </a:p>
                  </a:txBody>
                  <a:tcPr marL="128016" marR="91440" marT="54864" marB="54864" anchor="ctr">
                    <a:solidFill>
                      <a:srgbClr val="FBFA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B5822E"/>
                          </a:solidFill>
                          <a:latin typeface="Consolas"/>
                        </a:rPr>
                        <a:t>Paid · private hosted</a:t>
                      </a:r>
                    </a:p>
                  </a:txBody>
                  <a:tcPr marL="128016" marR="91440" marT="54864" marB="54864" anchor="ctr">
                    <a:solidFill>
                      <a:srgbClr val="FBFAF7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5B6470"/>
                          </a:solidFill>
                          <a:latin typeface="Calibri"/>
                        </a:rPr>
                        <a:t>Where your library lives</a:t>
                      </a:r>
                    </a:p>
                  </a:txBody>
                  <a:tcPr marL="128016" marR="91440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1B2027"/>
                          </a:solidFill>
                          <a:latin typeface="Calibri"/>
                        </a:rPr>
                        <a:t>On your device</a:t>
                      </a:r>
                    </a:p>
                  </a:txBody>
                  <a:tcPr marL="128016" marR="91440" marT="54864" marB="54864" anchor="ctr">
                    <a:solidFill>
                      <a:srgbClr val="E7F1E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1B2027"/>
                          </a:solidFill>
                          <a:latin typeface="Calibri"/>
                        </a:rPr>
                        <a:t>In your private online space</a:t>
                      </a:r>
                    </a:p>
                  </a:txBody>
                  <a:tcPr marL="128016" marR="91440" marT="54864" marB="54864" anchor="ctr">
                    <a:solidFill>
                      <a:srgbClr val="F6EEDD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5B6470"/>
                          </a:solidFill>
                          <a:latin typeface="Calibri"/>
                        </a:rPr>
                        <a:t>Use it on all your devices</a:t>
                      </a:r>
                    </a:p>
                  </a:txBody>
                  <a:tcPr marL="128016" marR="91440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1B2027"/>
                          </a:solidFill>
                          <a:latin typeface="Calibri"/>
                        </a:rPr>
                        <a:t>One device at a time</a:t>
                      </a:r>
                    </a:p>
                  </a:txBody>
                  <a:tcPr marL="128016" marR="91440" marT="54864" marB="54864" anchor="ctr">
                    <a:solidFill>
                      <a:srgbClr val="E7F1E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1B2027"/>
                          </a:solidFill>
                          <a:latin typeface="Calibri"/>
                        </a:rPr>
                        <a:t>Phone, tablet &amp; web — in sync</a:t>
                      </a:r>
                    </a:p>
                  </a:txBody>
                  <a:tcPr marL="128016" marR="91440" marT="54864" marB="54864" anchor="ctr">
                    <a:solidFill>
                      <a:srgbClr val="F6EEDD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5B6470"/>
                          </a:solidFill>
                          <a:latin typeface="Calibri"/>
                        </a:rPr>
                        <a:t>Search across your whole library</a:t>
                      </a:r>
                    </a:p>
                  </a:txBody>
                  <a:tcPr marL="128016" marR="91440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1B2027"/>
                          </a:solidFill>
                          <a:latin typeface="Calibri"/>
                        </a:rPr>
                        <a:t>On that device's shelf</a:t>
                      </a:r>
                    </a:p>
                  </a:txBody>
                  <a:tcPr marL="128016" marR="91440" marT="54864" marB="54864" anchor="ctr">
                    <a:solidFill>
                      <a:srgbClr val="E7F1E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1B2027"/>
                          </a:solidFill>
                          <a:latin typeface="Calibri"/>
                        </a:rPr>
                        <a:t>Everything, from anywhere</a:t>
                      </a:r>
                    </a:p>
                  </a:txBody>
                  <a:tcPr marL="128016" marR="91440" marT="54864" marB="54864" anchor="ctr">
                    <a:solidFill>
                      <a:srgbClr val="F6EEDD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5B6470"/>
                          </a:solidFill>
                          <a:latin typeface="Calibri"/>
                        </a:rPr>
                        <a:t>Works offline</a:t>
                      </a:r>
                    </a:p>
                  </a:txBody>
                  <a:tcPr marL="128016" marR="91440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1B2027"/>
                          </a:solidFill>
                          <a:latin typeface="Calibri"/>
                        </a:rPr>
                        <a:t>Always</a:t>
                      </a:r>
                    </a:p>
                  </a:txBody>
                  <a:tcPr marL="128016" marR="91440" marT="54864" marB="54864" anchor="ctr">
                    <a:solidFill>
                      <a:srgbClr val="E7F1E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1B2027"/>
                          </a:solidFill>
                          <a:latin typeface="Calibri"/>
                        </a:rPr>
                        <a:t>Needs a connection</a:t>
                      </a:r>
                    </a:p>
                  </a:txBody>
                  <a:tcPr marL="128016" marR="91440" marT="54864" marB="54864" anchor="ctr">
                    <a:solidFill>
                      <a:srgbClr val="F6EEDD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5B6470"/>
                          </a:solidFill>
                          <a:latin typeface="Calibri"/>
                        </a:rPr>
                        <a:t>Who can see it</a:t>
                      </a:r>
                    </a:p>
                  </a:txBody>
                  <a:tcPr marL="128016" marR="91440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1B2027"/>
                          </a:solidFill>
                          <a:latin typeface="Calibri"/>
                        </a:rPr>
                        <a:t>Only you (never leaves device)</a:t>
                      </a:r>
                    </a:p>
                  </a:txBody>
                  <a:tcPr marL="128016" marR="91440" marT="54864" marB="54864" anchor="ctr">
                    <a:solidFill>
                      <a:srgbClr val="E7F1E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1B2027"/>
                          </a:solidFill>
                          <a:latin typeface="Calibri"/>
                        </a:rPr>
                        <a:t>Only you (private, encrypted)</a:t>
                      </a:r>
                    </a:p>
                  </a:txBody>
                  <a:tcPr marL="128016" marR="91440" marT="54864" marB="54864" anchor="ctr">
                    <a:solidFill>
                      <a:srgbClr val="F6EEDD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5B6470"/>
                          </a:solidFill>
                          <a:latin typeface="Calibri"/>
                        </a:rPr>
                        <a:t>Cost</a:t>
                      </a:r>
                    </a:p>
                  </a:txBody>
                  <a:tcPr marL="128016" marR="91440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1B2027"/>
                          </a:solidFill>
                          <a:latin typeface="Calibri"/>
                        </a:rPr>
                        <a:t>Free</a:t>
                      </a:r>
                    </a:p>
                  </a:txBody>
                  <a:tcPr marL="128016" marR="91440" marT="54864" marB="54864" anchor="ctr">
                    <a:solidFill>
                      <a:srgbClr val="E7F1E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1B2027"/>
                          </a:solidFill>
                          <a:latin typeface="Calibri"/>
                        </a:rPr>
                        <a:t>Subscription, with allowance</a:t>
                      </a:r>
                    </a:p>
                  </a:txBody>
                  <a:tcPr marL="128016" marR="91440" marT="54864" marB="54864" anchor="ctr">
                    <a:solidFill>
                      <a:srgbClr val="F6EEDD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822960" y="6355080"/>
            <a:ext cx="10515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 i="1">
                <a:solidFill>
                  <a:srgbClr val="5B6470"/>
                </a:solidFill>
                <a:latin typeface="Calibri"/>
              </a:rPr>
              <a:t>Free device tier is unchanged; the paid tier is opt-in. — ADR-033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