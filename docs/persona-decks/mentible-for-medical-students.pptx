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77240"/>
            <a:ext cx="3634740" cy="457200"/>
          </a:xfrm>
          <a:prstGeom prst="roundRect">
            <a:avLst>
              <a:gd name="adj" fmla="val 50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36347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2E7D5B"/>
                </a:solidFill>
                <a:latin typeface="Consolas"/>
              </a:rPr>
              <a:t>MENTIBLE FOR MED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4000" b="1" i="0">
                <a:solidFill>
                  <a:srgbClr val="17242E"/>
                </a:solidFill>
                <a:latin typeface="Georgia"/>
              </a:rPr>
              <a:t>Hi, Sam.
I'm Mentible.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566572"/>
                </a:solidFill>
                <a:latin typeface="Calibri"/>
              </a:rPr>
              <a:t>Your textbooks, the notes you actually understand, your slides — I'll explain and quiz from them, at your level, never a chatbot's guesses. Here's how we'd work together.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5074920"/>
            <a:ext cx="685800" cy="685800"/>
          </a:xfrm>
          <a:prstGeom prst="ellipse">
            <a:avLst/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3856" y="5221224"/>
            <a:ext cx="246888" cy="24688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4984" y="5486400"/>
            <a:ext cx="484632" cy="310896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512064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Talking to: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54864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66572"/>
                </a:solidFill>
                <a:latin typeface="Calibri"/>
              </a:rPr>
              <a:t>Second-year medical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FIRST — I KNOW YOUR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material is everywhere, and generic AI won't get you through an exam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60152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73152" cy="265176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9692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Your material lives everywhere.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Textbooks, lecture slides, scattered notes, past papers — none of it talks to each other.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You revise against the clock.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Exams don't wait, and re-reading whole chapters isn't studying.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7242E"/>
                </a:solidFill>
                <a:latin typeface="Calibri"/>
              </a:rPr>
              <a:t>The generic chatbots?  </a:t>
            </a:r>
            <a:r>
              <a:rPr sz="1300" b="0" i="0">
                <a:solidFill>
                  <a:srgbClr val="566572"/>
                </a:solidFill>
                <a:latin typeface="Calibri"/>
              </a:rPr>
              <a:t>They give generic web answers, not what YOUR course teaches. Wrong level, wrong syllabus.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START WITH ME — FREE, ON YOUR DEVICE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No sign-up. Nothing leaves your laptop.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Install me, point me at your course material, and we start — everything stays on your own device.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16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948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948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Open me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Free to start. No account, works offline.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20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852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852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Hand me your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852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Textbooks, slides, notes, past papers — they become your knowledge library.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3247" y="2788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7567" y="301752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7567" y="301752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8F83"/>
                </a:solidFill>
                <a:latin typeface="Consola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7567" y="37033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42E"/>
                </a:solidFill>
                <a:latin typeface="Calibri"/>
              </a:rPr>
              <a:t>Ask, or test yourself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567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66572"/>
                </a:solidFill>
                <a:latin typeface="Calibri"/>
              </a:rPr>
              <a:t>I explain and quiz you from your own course.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937760"/>
            <a:ext cx="10360152" cy="685800"/>
          </a:xfrm>
          <a:prstGeom prst="roundRect">
            <a:avLst>
              <a:gd name="adj" fmla="val 20000"/>
            </a:avLst>
          </a:prstGeom>
          <a:solidFill>
            <a:srgbClr val="E7F1EF"/>
          </a:solidFill>
          <a:ln w="12700">
            <a:solidFill>
              <a:srgbClr val="BF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96926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F8F83"/>
                </a:solidFill>
                <a:latin typeface="Calibri"/>
              </a:rPr>
              <a:t>✓  On the free tier I live entirely on your device. </a:t>
            </a:r>
            <a:r>
              <a:rPr sz="1350" b="0" i="0">
                <a:solidFill>
                  <a:srgbClr val="17242E"/>
                </a:solidFill>
                <a:latin typeface="Calibri"/>
              </a:rPr>
              <a:t>I can't see your library — and neither can anyone else.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THE HEART OF HOW WE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This becomes your knowledge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566572"/>
                </a:solidFill>
                <a:latin typeface="Calibri"/>
              </a:rPr>
              <a:t>Not my memory — </a:t>
            </a:r>
            <a:r>
              <a:rPr sz="1400" b="1" i="1">
                <a:solidFill>
                  <a:srgbClr val="17242E"/>
                </a:solidFill>
                <a:latin typeface="Calibri"/>
              </a:rPr>
              <a:t>yours</a:t>
            </a:r>
            <a:r>
              <a:rPr sz="1400" b="0" i="0">
                <a:solidFill>
                  <a:srgbClr val="566572"/>
                </a:solidFill>
                <a:latin typeface="Calibri"/>
              </a:rPr>
              <a:t>. The exact material your course is built on, in one place I've read cover to cover — not the internet's version, yours.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971800"/>
            <a:ext cx="7772400" cy="2103120"/>
          </a:xfrm>
          <a:prstGeom prst="roundRect">
            <a:avLst>
              <a:gd name="adj" fmla="val 5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89020" y="3291839"/>
            <a:ext cx="777240" cy="1554480"/>
          </a:xfrm>
          <a:prstGeom prst="roundRect">
            <a:avLst>
              <a:gd name="adj" fmla="val 8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3273551"/>
            <a:ext cx="105156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Anatomy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0579" y="3474720"/>
            <a:ext cx="777240" cy="1371600"/>
          </a:xfrm>
          <a:prstGeom prst="roundRect">
            <a:avLst>
              <a:gd name="adj" fmla="val 8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3419" y="3456432"/>
            <a:ext cx="105156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Lecture slides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3154679"/>
            <a:ext cx="777240" cy="1691640"/>
          </a:xfrm>
          <a:prstGeom prst="roundRect">
            <a:avLst>
              <a:gd name="adj" fmla="val 8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4979" y="3136391"/>
            <a:ext cx="1051560" cy="1691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Pharm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43700" y="3520439"/>
            <a:ext cx="777240" cy="1325880"/>
          </a:xfrm>
          <a:prstGeom prst="roundRect">
            <a:avLst>
              <a:gd name="adj" fmla="val 8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6540" y="3502151"/>
            <a:ext cx="105156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Past papers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95260" y="3383279"/>
            <a:ext cx="777240" cy="1463040"/>
          </a:xfrm>
          <a:prstGeom prst="roundRect">
            <a:avLst>
              <a:gd name="adj" fmla="val 8000"/>
            </a:avLst>
          </a:prstGeom>
          <a:solidFill>
            <a:srgbClr val="6B4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8100" y="3364991"/>
            <a:ext cx="1051560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Your summaries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566572"/>
                </a:solidFill>
                <a:latin typeface="Calibri"/>
              </a:rPr>
              <a:t>Every book here, you put there. That's the point — I study from your syllabus, not the web's.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HOW I ACTUALLY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I read your material first — then I answer, at your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Ask me anything, or ask me to quiz you. I don't guess: I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find the relevant passages in your material first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, then explain or test you from them — and show you where in your notes it came from. (Engineers call it RAG. You don't have to.)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835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E7D5B"/>
                </a:solidFill>
                <a:latin typeface="Consolas"/>
              </a:rPr>
              <a:t>YOU ASK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835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“Explain the RAAS cascade — then quiz me on it.”</a:t>
            </a:r>
          </a:p>
        </p:txBody>
      </p:sp>
      <p:sp>
        <p:nvSpPr>
          <p:cNvPr id="11" name="Chevron 10"/>
          <p:cNvSpPr/>
          <p:nvPr/>
        </p:nvSpPr>
        <p:spPr>
          <a:xfrm>
            <a:off x="4084167" y="3762756"/>
            <a:ext cx="292608" cy="310896"/>
          </a:xfrm>
          <a:prstGeom prst="chevro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9564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E6F1EB"/>
          </a:solidFill>
          <a:ln w="222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167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E7D5B"/>
                </a:solidFill>
                <a:latin typeface="Consolas"/>
              </a:rPr>
              <a:t>I RETRIEVE FROM YOUR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167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I find the exact section in YOUR physiology text &amp; lecture slides.</a:t>
            </a:r>
          </a:p>
        </p:txBody>
      </p:sp>
      <p:sp>
        <p:nvSpPr>
          <p:cNvPr id="15" name="Chevron 14"/>
          <p:cNvSpPr/>
          <p:nvPr/>
        </p:nvSpPr>
        <p:spPr>
          <a:xfrm>
            <a:off x="7787487" y="3762756"/>
            <a:ext cx="292608" cy="310896"/>
          </a:xfrm>
          <a:prstGeom prst="chevron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8967" y="3063240"/>
            <a:ext cx="32004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4999" y="32918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2E7D5B"/>
                </a:solidFill>
                <a:latin typeface="Consolas"/>
              </a:rPr>
              <a:t>I ANSWER, AT YOUR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4999" y="3630168"/>
            <a:ext cx="268833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7242E"/>
                </a:solidFill>
                <a:latin typeface="Calibri"/>
              </a:rPr>
              <a:t>A clear explanation and a quiz built from your own material — not generic web content.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1036015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9692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Calibri"/>
              </a:rPr>
              <a:t>Think of me as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the study partner who's read your whole syllabus and only tests you on what's actually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BIGGER THAN THE BOOKS ON YOUR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Your knowledge library can outgrow your reading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i="0">
                <a:solidFill>
                  <a:srgbClr val="566572"/>
                </a:solidFill>
                <a:latin typeface="Calibri"/>
              </a:rPr>
              <a:t>You're not limited to what you own. I can pull authoritative reference and public-domain texts into your knowledge library from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curated catalogs</a:t>
            </a:r>
            <a:r>
              <a:rPr sz="1350" b="0" i="0">
                <a:solidFill>
                  <a:srgbClr val="566572"/>
                </a:solidFill>
                <a:latin typeface="Calibri"/>
              </a:rPr>
              <a:t> — straight to your device — then explain and quiz at your level, in your syllabus's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you bring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3749039"/>
            <a:ext cx="1031443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749039"/>
            <a:ext cx="1031443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Textbooks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3083" y="3749039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3083" y="3749039"/>
            <a:ext cx="11155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Your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5811" y="3749039"/>
            <a:ext cx="779068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5811" y="3749039"/>
            <a:ext cx="7790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Slides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063240"/>
            <a:ext cx="128016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 i="0">
                <a:solidFill>
                  <a:srgbClr val="566572"/>
                </a:solidFill>
                <a:latin typeface="Calibri"/>
              </a:rPr>
              <a:t>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3063240"/>
            <a:ext cx="3931920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32918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7242E"/>
                </a:solidFill>
                <a:latin typeface="Calibri"/>
              </a:rPr>
              <a:t>What I pull 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3749039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3749039"/>
            <a:ext cx="15361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Reference texts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97111" y="3749039"/>
            <a:ext cx="1620316" cy="365760"/>
          </a:xfrm>
          <a:prstGeom prst="roundRect">
            <a:avLst>
              <a:gd name="adj" fmla="val 50000"/>
            </a:avLst>
          </a:prstGeom>
          <a:solidFill>
            <a:srgbClr val="FBFAF9"/>
          </a:solidFill>
          <a:ln w="12700">
            <a:solidFill>
              <a:srgbClr val="DDDF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7111" y="3749039"/>
            <a:ext cx="16203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7242E"/>
                </a:solidFill>
                <a:latin typeface="Calibri"/>
              </a:rPr>
              <a:t>Curated catalogs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4892040"/>
            <a:ext cx="6858000" cy="822960"/>
          </a:xfrm>
          <a:prstGeom prst="roundRect">
            <a:avLst>
              <a:gd name="adj" fmla="val 20000"/>
            </a:avLst>
          </a:prstGeom>
          <a:solidFill>
            <a:srgbClr val="E6F1EB"/>
          </a:solidFill>
          <a:ln w="15875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4892040"/>
            <a:ext cx="6492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Calibri"/>
              </a:rPr>
              <a:t>= one knowledge library 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broader than your reading list, still your syllabus, still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66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1EB"/>
          </a:solidFill>
          <a:ln w="12700">
            <a:solidFill>
              <a:srgbClr val="BFDD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669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Consola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54864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66572"/>
                </a:solidFill>
                <a:latin typeface="Consolas"/>
              </a:rPr>
              <a:t>WHEN YOU'RE READY FOR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7242E"/>
                </a:solidFill>
                <a:latin typeface="Georgia"/>
              </a:rPr>
              <a:t>Take me everywhere — the ward, the library, the commute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10360152" cy="278892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E4C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1">
                <a:solidFill>
                  <a:srgbClr val="17242E"/>
                </a:solidFill>
                <a:latin typeface="Calibri"/>
              </a:rPr>
              <a:t>One day you'll want your study not just on your laptop, but on your phone on the ward and your tablet in the library. That's when you'll upgrade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290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One private library, every device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I carry your whole knowledge library and its quizzes across your devices, in sync.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862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Revise anywhere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ten minutes on the commute? Pick up exactly where you left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34340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5822E"/>
                </a:solidFill>
                <a:latin typeface="Calibri"/>
              </a:rPr>
              <a:t>›  </a:t>
            </a:r>
            <a:r>
              <a:rPr sz="1350" b="1" i="0">
                <a:solidFill>
                  <a:srgbClr val="17242E"/>
                </a:solidFill>
                <a:latin typeface="Calibri"/>
              </a:rPr>
              <a:t>Still yours alone </a:t>
            </a:r>
            <a:r>
              <a:rPr sz="1300" b="0" i="0">
                <a:solidFill>
                  <a:srgbClr val="17242E"/>
                </a:solidFill>
                <a:latin typeface="Calibri"/>
              </a:rPr>
              <a:t>— private, encrypted, never shared, never used to profile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66572"/>
                </a:solidFill>
                <a:latin typeface="Calibri"/>
              </a:rPr>
              <a:t>Upgrading makes me a private hosted library that follows you. The free device-only version stays exactly as it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FDDCB"/>
                </a:solidFill>
                <a:latin typeface="Consolas"/>
              </a:rPr>
              <a:t>MY PROMISE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Give me the material your course is built on, and I'll turn it into explanations you get and quizzes that match your exam — in minutes, at your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FDDCB"/>
                </a:solidFill>
                <a:latin typeface="Calibri"/>
              </a:rPr>
              <a:t>Learn → Author → Carry, privately.  Free on your device · paid across every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