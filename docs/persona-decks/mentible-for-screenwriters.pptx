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77240"/>
            <a:ext cx="3739896" cy="457200"/>
          </a:xfrm>
          <a:prstGeom prst="roundRect">
            <a:avLst>
              <a:gd name="adj" fmla="val 50000"/>
            </a:avLst>
          </a:prstGeom>
          <a:solidFill>
            <a:srgbClr val="F0E9F3"/>
          </a:solidFill>
          <a:ln w="12700">
            <a:solidFill>
              <a:srgbClr val="D8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37398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B4880"/>
                </a:solidFill>
                <a:latin typeface="Consolas"/>
              </a:rPr>
              <a:t>MENTIBLE FOR SCREENWRITERS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4000" b="1" i="0">
                <a:solidFill>
                  <a:srgbClr val="17242E"/>
                </a:solidFill>
                <a:latin typeface="Georgia"/>
              </a:rPr>
              <a:t>Hi, Mara.
I'm Mentible.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566572"/>
                </a:solidFill>
                <a:latin typeface="Calibri"/>
              </a:rPr>
              <a:t>Your research, your story bible, the character and world notes you trust — I'll write and answer from them, keeping your world consistent, never a chatbot's guesses. Here's how we'd work together.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5074920"/>
            <a:ext cx="685800" cy="685800"/>
          </a:xfrm>
          <a:prstGeom prst="ellipse">
            <a:avLst/>
          </a:prstGeom>
          <a:solidFill>
            <a:srgbClr val="F0E9F3"/>
          </a:solidFill>
          <a:ln w="12700">
            <a:solidFill>
              <a:srgbClr val="D8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5221224"/>
            <a:ext cx="246888" cy="246888"/>
          </a:xfrm>
          <a:prstGeom prst="ellipse">
            <a:avLst/>
          </a:prstGeom>
          <a:solidFill>
            <a:srgbClr val="6B4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4984" y="5486400"/>
            <a:ext cx="484632" cy="310896"/>
          </a:xfrm>
          <a:prstGeom prst="ellipse">
            <a:avLst/>
          </a:prstGeom>
          <a:solidFill>
            <a:srgbClr val="6B4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512064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Talking to: Mara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54864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66572"/>
                </a:solidFill>
                <a:latin typeface="Calibri"/>
              </a:rPr>
              <a:t>Feature screenwriter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0E9F3"/>
          </a:solidFill>
          <a:ln w="12700">
            <a:solidFill>
              <a:srgbClr val="D8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6B4880"/>
                </a:solidFill>
                <a:latin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FIRST — I KNOW YOUR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Your world lives in a hundred files, and generic AI breaks your canon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036015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73152" cy="2651760"/>
          </a:xfrm>
          <a:prstGeom prst="rect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9692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Your world is scattered.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Research docs, a series bible, character notes, location refs — spread across folders and notebooks.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Continuity is brutal.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One detail wrong and the world cracks. Keeping it all in your head doesn't scale.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The generic chatbots?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They invent facts, forget your canon — and you'd be feeding unreleased story into someone else's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0E9F3"/>
          </a:solidFill>
          <a:ln w="12700">
            <a:solidFill>
              <a:srgbClr val="D8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6B4880"/>
                </a:solidFill>
                <a:latin typeface="Consola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START WITH ME — FREE, ON YOUR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No sign-up. Nothing leaves your laptop.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Install me, point me at your research and bible, and we start — everything stays on your own device.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16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948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948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8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Open me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48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Free to start. No account, works offline.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420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7852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852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52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Hand me your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52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Research, bible, character &amp; location notes — they become your knowledge library.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324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756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756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756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Ask, or hand me a scene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56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I draft and answer from your own canon.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937760"/>
            <a:ext cx="10360152" cy="685800"/>
          </a:xfrm>
          <a:prstGeom prst="roundRect">
            <a:avLst>
              <a:gd name="adj" fmla="val 20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937760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F8F83"/>
                </a:solidFill>
                <a:latin typeface="Calibri"/>
              </a:rPr>
              <a:t>✓  On the free tier I live entirely on your device. </a:t>
            </a:r>
            <a:r>
              <a:rPr sz="1350" b="0" i="0">
                <a:solidFill>
                  <a:srgbClr val="17242E"/>
                </a:solidFill>
                <a:latin typeface="Calibri"/>
              </a:rPr>
              <a:t>Your unreleased work never leaves it — and no one else can see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0E9F3"/>
          </a:solidFill>
          <a:ln w="12700">
            <a:solidFill>
              <a:srgbClr val="D8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6B4880"/>
                </a:solidFill>
                <a:latin typeface="Consola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THE HEART OF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This becomes your knowledge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66572"/>
                </a:solidFill>
                <a:latin typeface="Calibri"/>
              </a:rPr>
              <a:t>Not my memory — </a:t>
            </a:r>
            <a:r>
              <a:rPr sz="1400" b="1" i="1">
                <a:solidFill>
                  <a:srgbClr val="17242E"/>
                </a:solidFill>
                <a:latin typeface="Calibri"/>
              </a:rPr>
              <a:t>yours</a:t>
            </a:r>
            <a:r>
              <a:rPr sz="1400" b="0" i="0">
                <a:solidFill>
                  <a:srgbClr val="566572"/>
                </a:solidFill>
                <a:latin typeface="Calibri"/>
              </a:rPr>
              <a:t>. Your world, your bible, your notes — one canon I've read cover to cover and keep straight for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971800"/>
            <a:ext cx="7772400" cy="2103120"/>
          </a:xfrm>
          <a:prstGeom prst="roundRect">
            <a:avLst>
              <a:gd name="adj" fmla="val 5000"/>
            </a:avLst>
          </a:prstGeom>
          <a:solidFill>
            <a:srgbClr val="F0E9F3"/>
          </a:solidFill>
          <a:ln w="12700">
            <a:solidFill>
              <a:srgbClr val="D8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89020" y="3291839"/>
            <a:ext cx="777240" cy="1554480"/>
          </a:xfrm>
          <a:prstGeom prst="roundRect">
            <a:avLst>
              <a:gd name="adj" fmla="val 8000"/>
            </a:avLst>
          </a:prstGeom>
          <a:solidFill>
            <a:srgbClr val="6B4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3273551"/>
            <a:ext cx="105156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Series bible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0579" y="3474720"/>
            <a:ext cx="777240" cy="1371600"/>
          </a:xfrm>
          <a:prstGeom prst="roundRect">
            <a:avLst>
              <a:gd name="adj" fmla="val 8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3419" y="3456432"/>
            <a:ext cx="10515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World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92140" y="3154679"/>
            <a:ext cx="777240" cy="1691640"/>
          </a:xfrm>
          <a:prstGeom prst="roundRect">
            <a:avLst>
              <a:gd name="adj" fmla="val 8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4979" y="3136391"/>
            <a:ext cx="1051560" cy="1691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Character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43700" y="3520439"/>
            <a:ext cx="777240" cy="1325880"/>
          </a:xfrm>
          <a:prstGeom prst="roundRect">
            <a:avLst>
              <a:gd name="adj" fmla="val 8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6540" y="3502151"/>
            <a:ext cx="105156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Location refs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5260" y="3383279"/>
            <a:ext cx="777240" cy="1463040"/>
          </a:xfrm>
          <a:prstGeom prst="roundRect">
            <a:avLst>
              <a:gd name="adj" fmla="val 8000"/>
            </a:avLst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8100" y="3364991"/>
            <a:ext cx="105156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566572"/>
                </a:solidFill>
                <a:latin typeface="Calibri"/>
              </a:rPr>
              <a:t>Every file here, you put there. That's the point — I keep your canon, not a made-up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0E9F3"/>
          </a:solidFill>
          <a:ln w="12700">
            <a:solidFill>
              <a:srgbClr val="D8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6B4880"/>
                </a:solidFill>
                <a:latin typeface="Consola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HOW I ACTUALLY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I read your bible first — then I write, true to your canon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Ask me a question or hand me a scene. I don't invent: I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find the relevant details in your bible first</a:t>
            </a:r>
            <a:r>
              <a:rPr sz="1350" b="0" i="0">
                <a:solidFill>
                  <a:srgbClr val="566572"/>
                </a:solidFill>
                <a:latin typeface="Calibri"/>
              </a:rPr>
              <a:t>, then write consistent with them — and show you which notes I drew on. (Engineers call it RAG. You don't have to.)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835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B4880"/>
                </a:solidFill>
                <a:latin typeface="Consolas"/>
              </a:rPr>
              <a:t>YOU ASK 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835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“Draft a scene brief for the 1922 airfield — keep it true to the bible.”</a:t>
            </a:r>
          </a:p>
        </p:txBody>
      </p:sp>
      <p:sp>
        <p:nvSpPr>
          <p:cNvPr id="11" name="Chevron 10"/>
          <p:cNvSpPr/>
          <p:nvPr/>
        </p:nvSpPr>
        <p:spPr>
          <a:xfrm>
            <a:off x="4084167" y="3762756"/>
            <a:ext cx="292608" cy="310896"/>
          </a:xfrm>
          <a:prstGeom prst="chevron">
            <a:avLst/>
          </a:prstGeom>
          <a:solidFill>
            <a:srgbClr val="6B4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9564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0E9F3"/>
          </a:solidFill>
          <a:ln w="22225">
            <a:solidFill>
              <a:srgbClr val="6B48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167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B4880"/>
                </a:solidFill>
                <a:latin typeface="Consolas"/>
              </a:rPr>
              <a:t>I RETRIEVE FROM YOUR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167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I pull the exact details from YOUR world research &amp; character notes.</a:t>
            </a:r>
          </a:p>
        </p:txBody>
      </p:sp>
      <p:sp>
        <p:nvSpPr>
          <p:cNvPr id="15" name="Chevron 14"/>
          <p:cNvSpPr/>
          <p:nvPr/>
        </p:nvSpPr>
        <p:spPr>
          <a:xfrm>
            <a:off x="7787487" y="3762756"/>
            <a:ext cx="292608" cy="310896"/>
          </a:xfrm>
          <a:prstGeom prst="chevron">
            <a:avLst/>
          </a:prstGeom>
          <a:solidFill>
            <a:srgbClr val="6B4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9896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499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B4880"/>
                </a:solidFill>
                <a:latin typeface="Consolas"/>
              </a:rPr>
              <a:t>I WRITE, TRUE TO YOUR CANON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499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A brief consistent with your world, citing your own notes — no continuity breaks.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9200"/>
            <a:ext cx="10360152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8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9692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B4880"/>
                </a:solidFill>
                <a:latin typeface="Calibri"/>
              </a:rPr>
              <a:t>Think of me as 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the story editor who has memorized your bible and never contradicts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0E9F3"/>
          </a:solidFill>
          <a:ln w="12700">
            <a:solidFill>
              <a:srgbClr val="D8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6B4880"/>
                </a:solidFill>
                <a:latin typeface="Consola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BIGGER THAN THE BOOKS ON YOUR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Your knowledge library can outgrow your own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You're not limited to what you've gathered. I can pull public-domain period texts and reference works into your knowledge library from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curated catalogs</a:t>
            </a:r>
            <a:r>
              <a:rPr sz="1350" b="0" i="0">
                <a:solidFill>
                  <a:srgbClr val="566572"/>
                </a:solidFill>
                <a:latin typeface="Calibri"/>
              </a:rPr>
              <a:t> — straight to your device — then ground every answer in your world, at the depth your story needs.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063240"/>
            <a:ext cx="393192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7242E"/>
                </a:solidFill>
                <a:latin typeface="Calibri"/>
              </a:rPr>
              <a:t>What you bring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3749039"/>
            <a:ext cx="1283817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749039"/>
            <a:ext cx="128381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Series bible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5457" y="3749039"/>
            <a:ext cx="1367942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5457" y="3749039"/>
            <a:ext cx="13679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Your research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749039"/>
            <a:ext cx="694944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749039"/>
            <a:ext cx="6949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063240"/>
            <a:ext cx="12801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solidFill>
                  <a:srgbClr val="566572"/>
                </a:solidFill>
                <a:latin typeface="Calibri"/>
              </a:rPr>
              <a:t>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063240"/>
            <a:ext cx="393192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32918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7242E"/>
                </a:solidFill>
                <a:latin typeface="Calibri"/>
              </a:rPr>
              <a:t>What I pull 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59" y="3749039"/>
            <a:ext cx="1283817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749039"/>
            <a:ext cx="128381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Period texts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4737" y="3749039"/>
            <a:ext cx="1620316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4737" y="3749039"/>
            <a:ext cx="16203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Curated catalogs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4892040"/>
            <a:ext cx="6858000" cy="822960"/>
          </a:xfrm>
          <a:prstGeom prst="roundRect">
            <a:avLst>
              <a:gd name="adj" fmla="val 20000"/>
            </a:avLst>
          </a:prstGeom>
          <a:solidFill>
            <a:srgbClr val="F0E9F3"/>
          </a:solidFill>
          <a:ln w="15875">
            <a:solidFill>
              <a:srgbClr val="D8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4892040"/>
            <a:ext cx="6492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B4880"/>
                </a:solidFill>
                <a:latin typeface="Calibri"/>
              </a:rPr>
              <a:t>= one knowledge library 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richer than your own files, still your canon, still private.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0E9F3"/>
          </a:solidFill>
          <a:ln w="12700">
            <a:solidFill>
              <a:srgbClr val="D8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6B4880"/>
                </a:solidFill>
                <a:latin typeface="Consola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WHEN YOU'RE READY FOR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Take me everywhere — the desk, the café, the writers' 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10360152" cy="2788920"/>
          </a:xfrm>
          <a:prstGeom prst="roundRect">
            <a:avLst>
              <a:gd name="adj" fmla="val 5000"/>
            </a:avLst>
          </a:prstGeom>
          <a:solidFill>
            <a:srgbClr val="F6EEDD"/>
          </a:solidFill>
          <a:ln w="15875">
            <a:solidFill>
              <a:srgbClr val="E4C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514600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1">
                <a:solidFill>
                  <a:srgbClr val="17242E"/>
                </a:solidFill>
                <a:latin typeface="Calibri"/>
              </a:rPr>
              <a:t>One day you'll want your world not just on your desk, but on your laptop at the café and your phone in the room. That's when you'll upgrade 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290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One private library, every device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I carry your whole world and its search across your devices, in sync.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862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Write anywhere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your canon and research, wherever the idea strikes.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434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Your IP stays yours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private, encrypted, never shared, never used to train anyone's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006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66572"/>
                </a:solidFill>
                <a:latin typeface="Calibri"/>
              </a:rPr>
              <a:t>Upgrading makes me a private hosted library that follows you. The free device-only version stays exactly as it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8C5E0"/>
                </a:solidFill>
                <a:latin typeface="Consolas"/>
              </a:rPr>
              <a:t>MY PROMISE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Give me the world you've already built, and I'll keep it consistent — scene after scene, draft after draft — while your unreleased IP stays yours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8C5E0"/>
                </a:solidFill>
                <a:latin typeface="Calibri"/>
              </a:rPr>
              <a:t>Learn → Author → Carry, privately.  Free on your device · paid across every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