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5146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>
                <a:solidFill>
                  <a:srgbClr val="EEF1F8"/>
                </a:solidFill>
                <a:latin typeface="Segoe UI Semibold"/>
              </a:rPr>
              <a:t>Mentible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930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2731F"/>
                </a:solidFill>
                <a:latin typeface="Segoe UI"/>
              </a:rPr>
              <a:t>New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AA3C0"/>
                </a:solidFill>
                <a:latin typeface="Segoe UI"/>
              </a:rPr>
              <a:t>Author Yourself — from your first sign-in to publishing your first 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4736" y="1042416"/>
            <a:ext cx="3218688" cy="3456013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108960" cy="33462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B7299"/>
                </a:solidFill>
                <a:latin typeface="Segoe UI"/>
              </a:rPr>
              <a:t>A six-part walkthrough, with screenshots from the live app.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EEF1F8"/>
                </a:solidFill>
                <a:latin typeface="Segoe UI Semibold"/>
              </a:rPr>
              <a:t>What you'll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731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653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F1F8"/>
                </a:solidFill>
                <a:latin typeface="Segoe UI"/>
              </a:rPr>
              <a:t>Sign in &amp; get set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34086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Account + your AI key — read vs. author.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5392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731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653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F1F8"/>
                </a:solidFill>
                <a:latin typeface="Segoe UI"/>
              </a:rPr>
              <a:t>Tour the menus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4086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The six tabs and what each one does.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56616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731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60273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F1F8"/>
                </a:solidFill>
                <a:latin typeface="Segoe UI"/>
              </a:rPr>
              <a:t>Load the books you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07822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Free catalogs, downloads, importing EPUBs.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9184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5392" y="356616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731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60273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F1F8"/>
                </a:solidFill>
                <a:latin typeface="Segoe UI"/>
              </a:rPr>
              <a:t>Compile your first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07822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From an outline to a generated book.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2" y="530352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035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731F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34009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F1F8"/>
                </a:solidFill>
                <a:latin typeface="Segoe UI"/>
              </a:rPr>
              <a:t>Edit your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81558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Refine topics, add figures, get feedback.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65392" y="530352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53035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731F"/>
                </a:solidFill>
                <a:latin typeface="Segoe UI Semibold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34009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EF1F8"/>
                </a:solidFill>
                <a:latin typeface="Segoe UI"/>
              </a:rPr>
              <a:t>Publish your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81558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Save privately or publish for readers.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2C2F52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31F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1F8"/>
                </a:solidFill>
                <a:latin typeface="Segoe UI Semibold"/>
              </a:rPr>
              <a:t>Sign in &amp; get set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A3C0"/>
                </a:solidFill>
                <a:latin typeface="Segoe UI"/>
              </a:rPr>
              <a:t>Two things unlock authoring: an account and your own AI key.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First run — three quick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882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882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Create your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Email + password, or “Continue with Google”. Optional to read — required to author or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9032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032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2549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Add an LLM key (BYOK)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36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Pick a provider (Claude recommended), follow “How to get your key”, paste it. Stays on your 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9182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182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Meet your tabs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5137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A quick tour, then “Open my Library”. Replay any time from Help.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84648"/>
            <a:ext cx="50800" cy="923544"/>
          </a:xfrm>
          <a:prstGeom prst="rect">
            <a:avLst/>
          </a:prstGeom>
          <a:solidFill>
            <a:srgbClr val="6C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6CC79A"/>
                </a:solidFill>
                <a:latin typeface="Segoe UI"/>
              </a:rPr>
              <a:t>You don't need an account to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Read the included books with no sign-in and no key. Sign in + add a key only when you want to author your own book.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The first-run wizard — from the live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45268" y="1591056"/>
            <a:ext cx="4001704" cy="422452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32" y="1645920"/>
            <a:ext cx="3891977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19327" y="1591056"/>
            <a:ext cx="3352066" cy="422452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191" y="1645920"/>
            <a:ext cx="3242339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59436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Step 1 — create your account (or skip).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9436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Step 2 — pick a provider and paste your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2C2F52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31F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1F8"/>
                </a:solidFill>
                <a:latin typeface="Segoe UI Semibold"/>
              </a:rPr>
              <a:t>Tour the menus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A3C0"/>
                </a:solidFill>
                <a:latin typeface="Segoe UI"/>
              </a:rPr>
              <a:t>Six tabs across the top bar. Here's what each one is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2 · MENUS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The six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Your finished books. Tap a cover for details, then Read. Import an EPUB or make a New shelf.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Shelves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0428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Free book catalogs (OPDS). Browse curated Gutenberg shelves, add a source, Download 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7530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9592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Author your own books. “+ New book” or “Import a book”. (Requires sign-in.)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3756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387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57530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99592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Account, your API keys (BYOK), generation defaults, plans &amp; usage, dyslexia-friendly font.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26694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6875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Searchable how-to guides. “?” buttons across the app jump 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23036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26694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About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6875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App version, the default AI model, and your privacy.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2 · MENUS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One bar, six places — and a Help tab full of guides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9691" y="1591056"/>
            <a:ext cx="3932698" cy="422452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55" y="1645920"/>
            <a:ext cx="382297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03113" y="2093976"/>
            <a:ext cx="5052974" cy="321868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977" y="2148840"/>
            <a:ext cx="4943246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4360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The in-app tour names all six tabs.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9436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Help is searchable, with a step-by-step “Getting started”.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2C2F52"/>
                </a:solidFill>
                <a:latin typeface="Segoe UI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31F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1F8"/>
                </a:solidFill>
                <a:latin typeface="Segoe UI Semibold"/>
              </a:rPr>
              <a:t>Load the books you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A3C0"/>
                </a:solidFill>
                <a:latin typeface="Segoe UI"/>
              </a:rPr>
              <a:t>Get reading material in — from free catalogs or your own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3 · LOAD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Two ways to get books to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882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882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Download a free book (Shelves tab)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Open a starter shelf (Popular · Science · Children's · History from Project Gutenberg) or paste an OPDS URL, then Download.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9032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032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2549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Find it under Downloads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36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Downloaded EPUBs land on Shelves → Downloads and open in the reader.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9182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182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Or import your own EPUB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5137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“Import an EPUB” (Library or Shelves) opens any EPUB you already have.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84648"/>
            <a:ext cx="50800" cy="923544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8677F0"/>
                </a:solidFill>
                <a:latin typeface="Segoe UI"/>
              </a:rPr>
              <a:t>Reading books ≠ source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Downloaded and imported books open read-only. Authoring your own book starts from an outline you write (next section).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3 · LOAD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The Shelves tab — live, with curated starter shelves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9576" y="1545336"/>
            <a:ext cx="7790688" cy="4940520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e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00200"/>
            <a:ext cx="7680960" cy="4830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281160" y="1691640"/>
            <a:ext cx="2514600" cy="114300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1160" y="1783080"/>
            <a:ext cx="50800" cy="96012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18105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731F"/>
                </a:solidFill>
                <a:latin typeface="Segoe UI"/>
              </a:rPr>
              <a:t>Curated shelves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3055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0"/>
                </a:solidFill>
                <a:latin typeface="Segoe UI"/>
              </a:rPr>
              <a:t>Four Project Gutenberg shelves, seeded for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063240"/>
            <a:ext cx="2514600" cy="114300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3154680"/>
            <a:ext cx="50800" cy="960120"/>
          </a:xfrm>
          <a:prstGeom prst="rect">
            <a:avLst/>
          </a:prstGeom>
          <a:solidFill>
            <a:srgbClr val="6C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182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CC79A"/>
                </a:solidFill>
                <a:latin typeface="Segoe UI"/>
              </a:rPr>
              <a:t>“Curated by Mentible”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50215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0"/>
                </a:solidFill>
                <a:latin typeface="Segoe UI"/>
              </a:rPr>
              <a:t>Owner-vouched, vs. sources you add yourself.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4434840"/>
            <a:ext cx="2514600" cy="114300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4526280"/>
            <a:ext cx="50800" cy="96012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5537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677F0"/>
                </a:solidFill>
                <a:latin typeface="Segoe UI"/>
              </a:rPr>
              <a:t>One-tap hint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87375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A3C0"/>
                </a:solidFill>
                <a:latin typeface="Segoe UI"/>
              </a:rPr>
              <a:t>A gentle nudge to grab your first free 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2C2F52"/>
                </a:solidFill>
                <a:latin typeface="Segoe UI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31F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1F8"/>
                </a:solidFill>
                <a:latin typeface="Segoe UI Semibold"/>
              </a:rPr>
              <a:t>Compile your first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A3C0"/>
                </a:solidFill>
                <a:latin typeface="Segoe UI"/>
              </a:rPr>
              <a:t>From a plain outline to a generated, saved book.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4 ·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The authoring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3736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Studio → “+ New book”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996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Add a title and paste your Table of Contents — or “Load from a Markdown file”, or download a blank template.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6060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0604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8775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Tap “Structure →”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The AI turns your outline into an editable topic tree. (Needs your saved API key.)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4747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4747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Review in the Book Editor → “Save book”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6732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Adjust title, description, tags, and the topic tree.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43434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3434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251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“Generate all topics →”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360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On the Generate screen, tap “Generate all topics”. One topic at a time — watch ○ → ✓.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2120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2120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937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“Save to Library (EPUB3)”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504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Compile the generated topics into an EPUB3 and add it to your Library.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4 ·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Start a book — Studio and the New Book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253517" y="1636776"/>
            <a:ext cx="6724954" cy="427024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_new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653" y="1691640"/>
            <a:ext cx="6615227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32883" y="1636776"/>
            <a:ext cx="6724954" cy="427024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_st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47" y="1691640"/>
            <a:ext cx="6615227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“+ New book” — paste your Table of Contents, then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893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Studio lists your books; a finished one shows its contents.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2C2F52"/>
                </a:solidFill>
                <a:latin typeface="Segoe UI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31F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1F8"/>
                </a:solidFill>
                <a:latin typeface="Segoe UI Semibold"/>
              </a:rPr>
              <a:t>Edit your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A3C0"/>
                </a:solidFill>
                <a:latin typeface="Segoe UI"/>
              </a:rPr>
              <a:t>Refine the structure and content until it's right.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5 ·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Four ways to refine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Structure &amp;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Re-open → Book Editor. Add, remove, reorder subjects, topics, subtopics; edit title, description,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Refine one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Open a topic → “Regenerate”. Add “Enhancement instructions” — they stick for every future regenerate.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758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124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Add figures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330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“Add figure” → choose from library or take a photo, then add Caption + Alt text. Figures stay on your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6758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7124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Get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1330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“Share draft” invites reviewers by email to comment before you publish.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5 ·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The Book Editor and a topic — from the live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66622" y="1636776"/>
            <a:ext cx="4067556" cy="459028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86" y="1691640"/>
            <a:ext cx="3957828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40959" y="2093976"/>
            <a:ext cx="4983122" cy="3538728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_t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23" y="2148840"/>
            <a:ext cx="4873394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355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Editable topic tree: subjects → topics → subtopics.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6355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A topic: “Regenerate”, “Add figure”, generated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2C2F52"/>
                </a:solidFill>
                <a:latin typeface="Segoe UI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31F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1F8"/>
                </a:solidFill>
                <a:latin typeface="Segoe UI Semibold"/>
              </a:rPr>
              <a:t>Publish your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A3C0"/>
                </a:solidFill>
                <a:latin typeface="Segoe UI"/>
              </a:rPr>
              <a:t>Keep it private, or share it with every reader.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6 ·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Two ways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Save to Library (EPUB3)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The everyday “finish &amp; keep”. Compiles your book privately and adds it to your own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2731F"/>
                </a:solidFill>
                <a:latin typeface="Segoe U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EF1F8"/>
                </a:solidFill>
                <a:latin typeface="Segoe UI"/>
              </a:rPr>
              <a:t>Publish to Library (EPUB + PDF)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A3C0"/>
                </a:solidFill>
                <a:latin typeface="Segoe UI"/>
              </a:rPr>
              <a:t>Shares to the open Library so any reader can download it. Signed-in authors only; compiles EPUB + PDF.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10881360" cy="7315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64845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64845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393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Download anytime — “Check out”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502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From a book's reader, Check out gives you EPUB3 (instant) or PDF (compiled on demand).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70832"/>
            <a:ext cx="10881360" cy="73152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498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4988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731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970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Formats today: EPUB3 +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06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Those are the release formats. (MOBI is planned for later.)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31F"/>
                </a:solidFill>
                <a:latin typeface="Segoe UI"/>
              </a:rPr>
              <a:t>SECTION 6 ·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EF1F8"/>
                </a:solidFill>
                <a:latin typeface="Segoe UI Semibold"/>
              </a:rPr>
              <a:t>The finish line — Save, Generate, Publish,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91256" y="1545336"/>
            <a:ext cx="5779008" cy="2783916"/>
          </a:xfrm>
          <a:prstGeom prst="roundRect">
            <a:avLst>
              <a:gd name="adj" fmla="val 5000"/>
            </a:avLst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_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5669280" cy="2674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235440" y="1645920"/>
            <a:ext cx="2560320" cy="105156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1737360"/>
            <a:ext cx="50800" cy="868680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175564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677F0"/>
                </a:solidFill>
                <a:latin typeface="Segoe UI"/>
              </a:rPr>
              <a:t>Generate all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06654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A3C0"/>
                </a:solidFill>
                <a:latin typeface="Segoe UI"/>
              </a:rPr>
              <a:t>Runs one topic at a time against your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880360"/>
            <a:ext cx="2560320" cy="105156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2971800"/>
            <a:ext cx="50800" cy="86868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99008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731F"/>
                </a:solidFill>
                <a:latin typeface="Segoe UI"/>
              </a:rPr>
              <a:t>Save to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30098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A3C0"/>
                </a:solidFill>
                <a:latin typeface="Segoe UI"/>
              </a:rPr>
              <a:t>Compiles a private EPUB3 to your Library.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114800"/>
            <a:ext cx="2560320" cy="105156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4206240"/>
            <a:ext cx="50800" cy="868680"/>
          </a:xfrm>
          <a:prstGeom prst="rect">
            <a:avLst/>
          </a:prstGeom>
          <a:solidFill>
            <a:srgbClr val="6CC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42245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C79A"/>
                </a:solidFill>
                <a:latin typeface="Segoe UI"/>
              </a:rPr>
              <a:t>Publish /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53542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A3C0"/>
                </a:solidFill>
                <a:latin typeface="Segoe UI"/>
              </a:rPr>
              <a:t>Share EPUB+PDF to readers, or back up a .book.json.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2C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AA3C0"/>
                </a:solidFill>
                <a:latin typeface="Segoe UI"/>
              </a:rPr>
              <a:t>Mentible</a:t>
            </a:r>
            <a:r>
              <a:rPr sz="900" b="0">
                <a:solidFill>
                  <a:srgbClr val="6B7299"/>
                </a:solidFill>
                <a:latin typeface="Segoe UI"/>
              </a:rPr>
              <a:t> · New User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99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1F8"/>
                </a:solidFill>
                <a:latin typeface="Segoe UI Semibold"/>
              </a:rPr>
              <a:t>Your six-step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42032"/>
            <a:ext cx="1371600" cy="50800"/>
          </a:xfrm>
          <a:prstGeom prst="rect">
            <a:avLst/>
          </a:prstGeom>
          <a:solidFill>
            <a:srgbClr val="F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731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Sign in &amp; add your AI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9260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3C0"/>
                </a:solidFill>
                <a:latin typeface="Segoe UI"/>
              </a:rPr>
              <a:t>read free, author with your own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472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731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655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Tour the six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493008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3C0"/>
                </a:solidFill>
                <a:latin typeface="Segoe UI"/>
              </a:rPr>
              <a:t>Library · Shelves · Studio · Settings · Help · About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1421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731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3250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Load 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059936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3C0"/>
                </a:solidFill>
                <a:latin typeface="Segoe UI"/>
              </a:rPr>
              <a:t>download free catalogs or import an EPUB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8114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731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994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Compile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626864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3C0"/>
                </a:solidFill>
                <a:latin typeface="Segoe UI"/>
              </a:rPr>
              <a:t>outline → Structure → Generate → Save to Library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4807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731F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19379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3C0"/>
                </a:solidFill>
                <a:latin typeface="Segoe UI"/>
              </a:rPr>
              <a:t>regenerate topics, add figures, share a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731F"/>
                </a:solidFill>
                <a:latin typeface="Segoe UI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7332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EF1F8"/>
                </a:solidFill>
                <a:latin typeface="Segoe UI"/>
              </a:rP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76072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3C0"/>
                </a:solidFill>
                <a:latin typeface="Segoe UI"/>
              </a:rPr>
              <a:t>keep private, or publish EPUB + PDF for readers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640080"/>
            <a:ext cx="4114800" cy="1371600"/>
          </a:xfrm>
          <a:prstGeom prst="roundRect">
            <a:avLst>
              <a:gd name="adj" fmla="val 9000"/>
            </a:avLst>
          </a:prstGeom>
          <a:solidFill>
            <a:srgbClr val="1F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749808"/>
            <a:ext cx="50800" cy="1152144"/>
          </a:xfrm>
          <a:prstGeom prst="rect">
            <a:avLst/>
          </a:prstGeom>
          <a:solidFill>
            <a:srgbClr val="867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7863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8677F0"/>
                </a:solidFill>
                <a:latin typeface="Segoe UI"/>
              </a:rPr>
              <a:t>Stuck? Open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1115568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A3C0"/>
                </a:solidFill>
                <a:latin typeface="Segoe UI"/>
              </a:rPr>
              <a:t>The Help tab has searchable guides, and “?” buttons across the app jump right to the relevant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