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85C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60120"/>
            <a:ext cx="1280160" cy="1280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5146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5800" b="1">
                <a:solidFill>
                  <a:srgbClr val="1A1B3A"/>
                </a:solidFill>
                <a:latin typeface="Segoe UI Semibold"/>
              </a:rPr>
              <a:t>Mentible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49300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D85C11"/>
                </a:solidFill>
                <a:latin typeface="Segoe UI"/>
              </a:rPr>
              <a:t>New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206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4B5170"/>
                </a:solidFill>
                <a:latin typeface="Segoe UI"/>
              </a:rPr>
              <a:t>Author Yourself — from your first sign-in to publishing your first book.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74736" y="1042416"/>
            <a:ext cx="3218688" cy="3456013"/>
          </a:xfrm>
          <a:prstGeom prst="roundRect">
            <a:avLst>
              <a:gd name="adj" fmla="val 5000"/>
            </a:avLst>
          </a:prstGeom>
          <a:solidFill>
            <a:srgbClr val="D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097280"/>
            <a:ext cx="3108960" cy="33462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080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095B0"/>
                </a:solidFill>
                <a:latin typeface="Segoe UI"/>
              </a:rPr>
              <a:t>A six-part walkthrough, with screenshots from the live app.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A1B3A"/>
                </a:solidFill>
                <a:latin typeface="Segoe UI Semibold"/>
              </a:rPr>
              <a:t>What you'll learn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463040" cy="50800"/>
          </a:xfrm>
          <a:prstGeom prst="rect">
            <a:avLst/>
          </a:prstGeom>
          <a:solidFill>
            <a:srgbClr val="D85C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49240" cy="141732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1828800"/>
            <a:ext cx="868680" cy="868680"/>
          </a:xfrm>
          <a:prstGeom prst="roundRect">
            <a:avLst>
              <a:gd name="adj" fmla="val 50000"/>
            </a:avLst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2880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D85C11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865376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A1B3A"/>
                </a:solidFill>
                <a:latin typeface="Segoe UI"/>
              </a:rPr>
              <a:t>Sign in &amp; get set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340864"/>
            <a:ext cx="3794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Account + your AI key — read vs. author.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349240" cy="141732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65392" y="1828800"/>
            <a:ext cx="868680" cy="868680"/>
          </a:xfrm>
          <a:prstGeom prst="roundRect">
            <a:avLst>
              <a:gd name="adj" fmla="val 50000"/>
            </a:avLst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82880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D85C11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865376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A1B3A"/>
                </a:solidFill>
                <a:latin typeface="Segoe UI"/>
              </a:rPr>
              <a:t>Tour the menus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340864"/>
            <a:ext cx="3794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The six tabs and what each one does.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91840"/>
            <a:ext cx="5349240" cy="141732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3566160"/>
            <a:ext cx="868680" cy="868680"/>
          </a:xfrm>
          <a:prstGeom prst="roundRect">
            <a:avLst>
              <a:gd name="adj" fmla="val 50000"/>
            </a:avLst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56616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D85C11"/>
                </a:solidFill>
                <a:latin typeface="Segoe UI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3602736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A1B3A"/>
                </a:solidFill>
                <a:latin typeface="Segoe UI"/>
              </a:rPr>
              <a:t>Load the books you need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078224"/>
            <a:ext cx="3794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Free catalogs, downloads, importing EPUBs.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291840"/>
            <a:ext cx="5349240" cy="141732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65392" y="3566160"/>
            <a:ext cx="868680" cy="868680"/>
          </a:xfrm>
          <a:prstGeom prst="roundRect">
            <a:avLst>
              <a:gd name="adj" fmla="val 50000"/>
            </a:avLst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356616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D85C11"/>
                </a:solidFill>
                <a:latin typeface="Segoe UI Semibol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3602736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A1B3A"/>
                </a:solidFill>
                <a:latin typeface="Segoe UI"/>
              </a:rPr>
              <a:t>Compile your first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4078224"/>
            <a:ext cx="3794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From an outline to a generated book.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029200"/>
            <a:ext cx="5349240" cy="141732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6112" y="5303520"/>
            <a:ext cx="868680" cy="868680"/>
          </a:xfrm>
          <a:prstGeom prst="roundRect">
            <a:avLst>
              <a:gd name="adj" fmla="val 50000"/>
            </a:avLst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530352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D85C11"/>
                </a:solidFill>
                <a:latin typeface="Segoe UI Semibold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5340096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A1B3A"/>
                </a:solidFill>
                <a:latin typeface="Segoe UI"/>
              </a:rPr>
              <a:t>Edit your 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5815584"/>
            <a:ext cx="3794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Refine topics, add figures, get feedback.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5029200"/>
            <a:ext cx="5349240" cy="141732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65392" y="5303520"/>
            <a:ext cx="868680" cy="868680"/>
          </a:xfrm>
          <a:prstGeom prst="roundRect">
            <a:avLst>
              <a:gd name="adj" fmla="val 50000"/>
            </a:avLst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530352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D85C11"/>
                </a:solidFill>
                <a:latin typeface="Segoe UI Semibold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5340096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A1B3A"/>
                </a:solidFill>
                <a:latin typeface="Segoe UI"/>
              </a:rPr>
              <a:t>Publish your release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5815584"/>
            <a:ext cx="3794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Save privately or publish for readers.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B5170"/>
                </a:solidFill>
                <a:latin typeface="Segoe UI"/>
              </a:rPr>
              <a:t>Mentible</a:t>
            </a:r>
            <a:r>
              <a:rPr sz="900" b="0">
                <a:solidFill>
                  <a:srgbClr val="9095B0"/>
                </a:solidFill>
                <a:latin typeface="Segoe UI"/>
              </a:rPr>
              <a:t> · New User Guide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095B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85C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3657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DDE1F2"/>
                </a:solidFill>
                <a:latin typeface="Segoe UI Semibol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822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D85C11"/>
                </a:solidFill>
                <a:latin typeface="Segoe UI"/>
              </a:rPr>
              <a:t>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788920"/>
            <a:ext cx="50800" cy="1554480"/>
          </a:xfrm>
          <a:prstGeom prst="rect">
            <a:avLst/>
          </a:prstGeom>
          <a:solidFill>
            <a:srgbClr val="D85C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274320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A1B3A"/>
                </a:solidFill>
                <a:latin typeface="Segoe UI Semibold"/>
              </a:rPr>
              <a:t>Sign in &amp; get set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379476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4B5170"/>
                </a:solidFill>
                <a:latin typeface="Segoe UI"/>
              </a:rPr>
              <a:t>Two things unlock authoring: an account and your own AI key.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B5170"/>
                </a:solidFill>
                <a:latin typeface="Segoe UI"/>
              </a:rPr>
              <a:t>Mentible</a:t>
            </a:r>
            <a:r>
              <a:rPr sz="900" b="0">
                <a:solidFill>
                  <a:srgbClr val="9095B0"/>
                </a:solidFill>
                <a:latin typeface="Segoe UI"/>
              </a:rPr>
              <a:t> · New User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095B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85C11"/>
                </a:solidFill>
                <a:latin typeface="Segoe UI"/>
              </a:rPr>
              <a:t>SECTION 1 · SIGN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A1B3A"/>
                </a:solidFill>
                <a:latin typeface="Segoe UI Semibold"/>
              </a:rPr>
              <a:t>First run — three quick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188720" cy="38100"/>
          </a:xfrm>
          <a:prstGeom prst="rect">
            <a:avLst/>
          </a:prstGeom>
          <a:solidFill>
            <a:srgbClr val="4B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881360" cy="86868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88823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8823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D85C11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1051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B3A"/>
                </a:solidFill>
                <a:latin typeface="Segoe UI"/>
              </a:rPr>
              <a:t>Create your 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2140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Email + password, or “Continue with Google”. Optional to read — required to author or sync.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06624"/>
            <a:ext cx="10881360" cy="86868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290322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90322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D85C11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825496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B3A"/>
                </a:solidFill>
                <a:latin typeface="Segoe UI"/>
              </a:rPr>
              <a:t>Add an LLM key (BYOK)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13639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Pick a provider (Claude recommended), follow “How to get your key”, paste it. Stays on your device.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21608"/>
            <a:ext cx="10881360" cy="86868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391820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91820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D85C11"/>
                </a:solidFill>
                <a:latin typeface="Segoe UI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4048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B3A"/>
                </a:solidFill>
                <a:latin typeface="Segoe UI"/>
              </a:rPr>
              <a:t>Meet your tabs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151376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A quick tour, then “Open my Library”. Replay any time from Help.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74920"/>
            <a:ext cx="10881360" cy="114300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184648"/>
            <a:ext cx="50800" cy="923544"/>
          </a:xfrm>
          <a:prstGeom prst="rect">
            <a:avLst/>
          </a:prstGeom>
          <a:solidFill>
            <a:srgbClr val="1F8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221224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F8F5C"/>
                </a:solidFill>
                <a:latin typeface="Segoe UI"/>
              </a:rPr>
              <a:t>You don't need an account to start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550408"/>
            <a:ext cx="10332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Read the included books with no sign-in and no key. Sign in + add a key only when you want to author your own book.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B5170"/>
                </a:solidFill>
                <a:latin typeface="Segoe UI"/>
              </a:rPr>
              <a:t>Mentible</a:t>
            </a:r>
            <a:r>
              <a:rPr sz="900" b="0">
                <a:solidFill>
                  <a:srgbClr val="9095B0"/>
                </a:solidFill>
                <a:latin typeface="Segoe UI"/>
              </a:rPr>
              <a:t> · New User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095B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85C11"/>
                </a:solidFill>
                <a:latin typeface="Segoe UI"/>
              </a:rPr>
              <a:t>SECTION 1 · SIGN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A1B3A"/>
                </a:solidFill>
                <a:latin typeface="Segoe UI Semibold"/>
              </a:rPr>
              <a:t>The first-run wizard — from the live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188720" cy="38100"/>
          </a:xfrm>
          <a:prstGeom prst="rect">
            <a:avLst/>
          </a:prstGeom>
          <a:solidFill>
            <a:srgbClr val="4B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45268" y="1591056"/>
            <a:ext cx="4001704" cy="4224528"/>
          </a:xfrm>
          <a:prstGeom prst="roundRect">
            <a:avLst>
              <a:gd name="adj" fmla="val 5000"/>
            </a:avLst>
          </a:prstGeom>
          <a:solidFill>
            <a:srgbClr val="D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ign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132" y="1645920"/>
            <a:ext cx="3891977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919327" y="1591056"/>
            <a:ext cx="3352066" cy="4224528"/>
          </a:xfrm>
          <a:prstGeom prst="roundRect">
            <a:avLst>
              <a:gd name="adj" fmla="val 5000"/>
            </a:avLst>
          </a:prstGeom>
          <a:solidFill>
            <a:srgbClr val="D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4191" y="1645920"/>
            <a:ext cx="3242339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8720" y="594360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Step 1 — create your account (or skip).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594360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Step 2 — pick a provider and paste your key.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B5170"/>
                </a:solidFill>
                <a:latin typeface="Segoe UI"/>
              </a:rPr>
              <a:t>Mentible</a:t>
            </a:r>
            <a:r>
              <a:rPr sz="900" b="0">
                <a:solidFill>
                  <a:srgbClr val="9095B0"/>
                </a:solidFill>
                <a:latin typeface="Segoe UI"/>
              </a:rPr>
              <a:t> · New User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095B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85C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3657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DDE1F2"/>
                </a:solidFill>
                <a:latin typeface="Segoe UI Semibol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822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D85C11"/>
                </a:solidFill>
                <a:latin typeface="Segoe UI"/>
              </a:rPr>
              <a:t>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788920"/>
            <a:ext cx="50800" cy="1554480"/>
          </a:xfrm>
          <a:prstGeom prst="rect">
            <a:avLst/>
          </a:prstGeom>
          <a:solidFill>
            <a:srgbClr val="D85C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274320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A1B3A"/>
                </a:solidFill>
                <a:latin typeface="Segoe UI Semibold"/>
              </a:rPr>
              <a:t>Tour the menus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379476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4B5170"/>
                </a:solidFill>
                <a:latin typeface="Segoe UI"/>
              </a:rPr>
              <a:t>Six tabs across the top bar. Here's what each one is for.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B5170"/>
                </a:solidFill>
                <a:latin typeface="Segoe UI"/>
              </a:rPr>
              <a:t>Mentible</a:t>
            </a:r>
            <a:r>
              <a:rPr sz="900" b="0">
                <a:solidFill>
                  <a:srgbClr val="9095B0"/>
                </a:solidFill>
                <a:latin typeface="Segoe UI"/>
              </a:rPr>
              <a:t> · New User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095B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85C11"/>
                </a:solidFill>
                <a:latin typeface="Segoe UI"/>
              </a:rPr>
              <a:t>SECTION 2 · MENUS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A1B3A"/>
                </a:solidFill>
                <a:latin typeface="Segoe UI Semibold"/>
              </a:rPr>
              <a:t>The six tabs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188720" cy="38100"/>
          </a:xfrm>
          <a:prstGeom prst="rect">
            <a:avLst/>
          </a:prstGeom>
          <a:solidFill>
            <a:srgbClr val="4B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349240" cy="141732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D85C11"/>
                </a:solidFill>
                <a:latin typeface="Segoe UI"/>
              </a:rPr>
              <a:t>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883664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1A1B3A"/>
                </a:solidFill>
                <a:latin typeface="Segoe UI"/>
              </a:rPr>
              <a:t>Library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304288"/>
            <a:ext cx="4069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B5170"/>
                </a:solidFill>
                <a:latin typeface="Segoe UI"/>
              </a:rPr>
              <a:t>Your finished books. Tap a cover for details, then Read. Import an EPUB or make a New shelf.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349240" cy="141732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4708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D85C11"/>
                </a:solidFill>
                <a:latin typeface="Segoe UI"/>
              </a:rPr>
              <a:t>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883664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1A1B3A"/>
                </a:solidFill>
                <a:latin typeface="Segoe UI"/>
              </a:rPr>
              <a:t>Shelves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304288"/>
            <a:ext cx="4069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B5170"/>
                </a:solidFill>
                <a:latin typeface="Segoe UI"/>
              </a:rPr>
              <a:t>Free book catalogs (OPDS). Browse curated Gutenberg shelves, add a source, Download books.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37560"/>
            <a:ext cx="5349240" cy="141732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3872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D85C11"/>
                </a:solidFill>
                <a:latin typeface="Segoe UI"/>
              </a:rPr>
              <a:t>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575304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1A1B3A"/>
                </a:solidFill>
                <a:latin typeface="Segoe UI"/>
              </a:rPr>
              <a:t>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995928"/>
            <a:ext cx="4069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B5170"/>
                </a:solidFill>
                <a:latin typeface="Segoe UI"/>
              </a:rPr>
              <a:t>Author your own books. “+ New book” or “Import a book”. (Requires sign-in.)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337560"/>
            <a:ext cx="5349240" cy="141732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53872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D85C11"/>
                </a:solidFill>
                <a:latin typeface="Segoe UI"/>
              </a:rPr>
              <a:t>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575304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1A1B3A"/>
                </a:solidFill>
                <a:latin typeface="Segoe UI"/>
              </a:rPr>
              <a:t>Settings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3995928"/>
            <a:ext cx="4069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B5170"/>
                </a:solidFill>
                <a:latin typeface="Segoe UI"/>
              </a:rPr>
              <a:t>Account, your API keys (BYOK), generation defaults, plans &amp; usage, dyslexia-friendly font.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29200"/>
            <a:ext cx="5349240" cy="141732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23036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D85C11"/>
                </a:solidFill>
                <a:latin typeface="Segoe UI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266944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1A1B3A"/>
                </a:solidFill>
                <a:latin typeface="Segoe UI"/>
              </a:rPr>
              <a:t>Help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687568"/>
            <a:ext cx="4069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B5170"/>
                </a:solidFill>
                <a:latin typeface="Segoe UI"/>
              </a:rPr>
              <a:t>Searchable how-to guides. “?” buttons across the app jump here.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5029200"/>
            <a:ext cx="5349240" cy="141732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523036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D85C11"/>
                </a:solidFill>
                <a:latin typeface="Segoe UI"/>
              </a:rPr>
              <a:t>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5266944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1A1B3A"/>
                </a:solidFill>
                <a:latin typeface="Segoe UI"/>
              </a:rPr>
              <a:t>About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5687568"/>
            <a:ext cx="4069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B5170"/>
                </a:solidFill>
                <a:latin typeface="Segoe UI"/>
              </a:rPr>
              <a:t>App version, the default AI model, and your privacy.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B5170"/>
                </a:solidFill>
                <a:latin typeface="Segoe UI"/>
              </a:rPr>
              <a:t>Mentible</a:t>
            </a:r>
            <a:r>
              <a:rPr sz="900" b="0">
                <a:solidFill>
                  <a:srgbClr val="9095B0"/>
                </a:solidFill>
                <a:latin typeface="Segoe UI"/>
              </a:rPr>
              <a:t> · New User Guide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095B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85C11"/>
                </a:solidFill>
                <a:latin typeface="Segoe UI"/>
              </a:rPr>
              <a:t>SECTION 2 · MENUS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A1B3A"/>
                </a:solidFill>
                <a:latin typeface="Segoe UI Semibold"/>
              </a:rPr>
              <a:t>One bar, six places — and a Help tab full of guides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188720" cy="38100"/>
          </a:xfrm>
          <a:prstGeom prst="rect">
            <a:avLst/>
          </a:prstGeom>
          <a:solidFill>
            <a:srgbClr val="4B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9691" y="1591056"/>
            <a:ext cx="3932698" cy="4224528"/>
          </a:xfrm>
          <a:prstGeom prst="roundRect">
            <a:avLst>
              <a:gd name="adj" fmla="val 5000"/>
            </a:avLst>
          </a:prstGeom>
          <a:solidFill>
            <a:srgbClr val="D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55" y="1645920"/>
            <a:ext cx="382297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703113" y="2093976"/>
            <a:ext cx="5052974" cy="3218688"/>
          </a:xfrm>
          <a:prstGeom prst="roundRect">
            <a:avLst>
              <a:gd name="adj" fmla="val 5000"/>
            </a:avLst>
          </a:prstGeom>
          <a:solidFill>
            <a:srgbClr val="D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977" y="2148840"/>
            <a:ext cx="4943246" cy="3108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943600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The in-app tour names all six tabs.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59436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Help is searchable, with a step-by-step “Getting started”.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B5170"/>
                </a:solidFill>
                <a:latin typeface="Segoe UI"/>
              </a:rPr>
              <a:t>Mentible</a:t>
            </a:r>
            <a:r>
              <a:rPr sz="900" b="0">
                <a:solidFill>
                  <a:srgbClr val="9095B0"/>
                </a:solidFill>
                <a:latin typeface="Segoe UI"/>
              </a:rPr>
              <a:t> · New User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095B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85C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3657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DDE1F2"/>
                </a:solidFill>
                <a:latin typeface="Segoe UI Semibol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822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D85C11"/>
                </a:solidFill>
                <a:latin typeface="Segoe UI"/>
              </a:rPr>
              <a:t>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788920"/>
            <a:ext cx="50800" cy="1554480"/>
          </a:xfrm>
          <a:prstGeom prst="rect">
            <a:avLst/>
          </a:prstGeom>
          <a:solidFill>
            <a:srgbClr val="D85C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274320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A1B3A"/>
                </a:solidFill>
                <a:latin typeface="Segoe UI Semibold"/>
              </a:rPr>
              <a:t>Load the books you 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379476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4B5170"/>
                </a:solidFill>
                <a:latin typeface="Segoe UI"/>
              </a:rPr>
              <a:t>Get reading material in — from free catalogs or your own files.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B5170"/>
                </a:solidFill>
                <a:latin typeface="Segoe UI"/>
              </a:rPr>
              <a:t>Mentible</a:t>
            </a:r>
            <a:r>
              <a:rPr sz="900" b="0">
                <a:solidFill>
                  <a:srgbClr val="9095B0"/>
                </a:solidFill>
                <a:latin typeface="Segoe UI"/>
              </a:rPr>
              <a:t> · New User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095B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85C11"/>
                </a:solidFill>
                <a:latin typeface="Segoe UI"/>
              </a:rPr>
              <a:t>SECTION 3 · LOAD 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A1B3A"/>
                </a:solidFill>
                <a:latin typeface="Segoe UI Semibold"/>
              </a:rPr>
              <a:t>Two ways to get books to read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188720" cy="38100"/>
          </a:xfrm>
          <a:prstGeom prst="rect">
            <a:avLst/>
          </a:prstGeom>
          <a:solidFill>
            <a:srgbClr val="4B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881360" cy="86868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88823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8823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D85C11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1051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B3A"/>
                </a:solidFill>
                <a:latin typeface="Segoe UI"/>
              </a:rPr>
              <a:t>Download a free book (Shelves tab)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2140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Open a starter shelf (Popular · Science · Children's · History from Project Gutenberg) or paste an OPDS URL, then Download.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06624"/>
            <a:ext cx="10881360" cy="86868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290322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90322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D85C11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825496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B3A"/>
                </a:solidFill>
                <a:latin typeface="Segoe UI"/>
              </a:rPr>
              <a:t>Find it under Downloads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13639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Downloaded EPUBs land on Shelves → Downloads and open in the reader.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21608"/>
            <a:ext cx="10881360" cy="86868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391820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91820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D85C11"/>
                </a:solidFill>
                <a:latin typeface="Segoe UI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4048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B3A"/>
                </a:solidFill>
                <a:latin typeface="Segoe UI"/>
              </a:rPr>
              <a:t>Or import your own EPUB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151376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“Import an EPUB” (Library or Shelves) opens any EPUB you already have.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74920"/>
            <a:ext cx="10881360" cy="114300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184648"/>
            <a:ext cx="50800" cy="923544"/>
          </a:xfrm>
          <a:prstGeom prst="rect">
            <a:avLst/>
          </a:prstGeom>
          <a:solidFill>
            <a:srgbClr val="4B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221224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4B3FBF"/>
                </a:solidFill>
                <a:latin typeface="Segoe UI"/>
              </a:rPr>
              <a:t>Reading books ≠ source material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550408"/>
            <a:ext cx="10332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Downloaded and imported books open read-only. Authoring your own book starts from an outline you write (next section).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B5170"/>
                </a:solidFill>
                <a:latin typeface="Segoe UI"/>
              </a:rPr>
              <a:t>Mentible</a:t>
            </a:r>
            <a:r>
              <a:rPr sz="900" b="0">
                <a:solidFill>
                  <a:srgbClr val="9095B0"/>
                </a:solidFill>
                <a:latin typeface="Segoe UI"/>
              </a:rPr>
              <a:t> · New User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095B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85C11"/>
                </a:solidFill>
                <a:latin typeface="Segoe UI"/>
              </a:rPr>
              <a:t>SECTION 3 · LOAD 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A1B3A"/>
                </a:solidFill>
                <a:latin typeface="Segoe UI Semibold"/>
              </a:rPr>
              <a:t>The Shelves tab — live, with curated starter shelves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188720" cy="38100"/>
          </a:xfrm>
          <a:prstGeom prst="rect">
            <a:avLst/>
          </a:prstGeom>
          <a:solidFill>
            <a:srgbClr val="4B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9576" y="1545336"/>
            <a:ext cx="7790688" cy="4940520"/>
          </a:xfrm>
          <a:prstGeom prst="roundRect">
            <a:avLst>
              <a:gd name="adj" fmla="val 5000"/>
            </a:avLst>
          </a:prstGeom>
          <a:solidFill>
            <a:srgbClr val="D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el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600200"/>
            <a:ext cx="7680960" cy="48307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281160" y="1691640"/>
            <a:ext cx="2514600" cy="114300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1160" y="1783080"/>
            <a:ext cx="50800" cy="960120"/>
          </a:xfrm>
          <a:prstGeom prst="rect">
            <a:avLst/>
          </a:prstGeom>
          <a:solidFill>
            <a:srgbClr val="D85C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0" y="181051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85C11"/>
                </a:solidFill>
                <a:latin typeface="Segoe UI"/>
              </a:rPr>
              <a:t>Curated shelves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2130552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4B5170"/>
                </a:solidFill>
                <a:latin typeface="Segoe UI"/>
              </a:rPr>
              <a:t>Four Project Gutenberg shelves, seeded for you.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063240"/>
            <a:ext cx="2514600" cy="114300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81160" y="3154680"/>
            <a:ext cx="50800" cy="960120"/>
          </a:xfrm>
          <a:prstGeom prst="rect">
            <a:avLst/>
          </a:prstGeom>
          <a:solidFill>
            <a:srgbClr val="1F8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318211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F8F5C"/>
                </a:solidFill>
                <a:latin typeface="Segoe UI"/>
              </a:rPr>
              <a:t>“Curated by Mentible”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3502152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4B5170"/>
                </a:solidFill>
                <a:latin typeface="Segoe UI"/>
              </a:rPr>
              <a:t>Owner-vouched, vs. sources you add yourself.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4434840"/>
            <a:ext cx="2514600" cy="114300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81160" y="4526280"/>
            <a:ext cx="50800" cy="960120"/>
          </a:xfrm>
          <a:prstGeom prst="rect">
            <a:avLst/>
          </a:prstGeom>
          <a:solidFill>
            <a:srgbClr val="4B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455371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4B3FBF"/>
                </a:solidFill>
                <a:latin typeface="Segoe UI"/>
              </a:rPr>
              <a:t>One-tap hint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4873752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4B5170"/>
                </a:solidFill>
                <a:latin typeface="Segoe UI"/>
              </a:rPr>
              <a:t>A gentle nudge to grab your first free book.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B5170"/>
                </a:solidFill>
                <a:latin typeface="Segoe UI"/>
              </a:rPr>
              <a:t>Mentible</a:t>
            </a:r>
            <a:r>
              <a:rPr sz="900" b="0">
                <a:solidFill>
                  <a:srgbClr val="9095B0"/>
                </a:solidFill>
                <a:latin typeface="Segoe UI"/>
              </a:rPr>
              <a:t> · New User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095B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85C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3657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DDE1F2"/>
                </a:solidFill>
                <a:latin typeface="Segoe UI Semibol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822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D85C11"/>
                </a:solidFill>
                <a:latin typeface="Segoe UI"/>
              </a:rPr>
              <a:t>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788920"/>
            <a:ext cx="50800" cy="1554480"/>
          </a:xfrm>
          <a:prstGeom prst="rect">
            <a:avLst/>
          </a:prstGeom>
          <a:solidFill>
            <a:srgbClr val="D85C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274320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A1B3A"/>
                </a:solidFill>
                <a:latin typeface="Segoe UI Semibold"/>
              </a:rPr>
              <a:t>Compile your first 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379476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4B5170"/>
                </a:solidFill>
                <a:latin typeface="Segoe UI"/>
              </a:rPr>
              <a:t>From a plain outline to a generated, saved book.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B5170"/>
                </a:solidFill>
                <a:latin typeface="Segoe UI"/>
              </a:rPr>
              <a:t>Mentible</a:t>
            </a:r>
            <a:r>
              <a:rPr sz="900" b="0">
                <a:solidFill>
                  <a:srgbClr val="9095B0"/>
                </a:solidFill>
                <a:latin typeface="Segoe UI"/>
              </a:rPr>
              <a:t> · New User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095B0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85C11"/>
                </a:solidFill>
                <a:latin typeface="Segoe UI"/>
              </a:rPr>
              <a:t>SECTION 4 · COMPILE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A1B3A"/>
                </a:solidFill>
                <a:latin typeface="Segoe UI Semibold"/>
              </a:rPr>
              <a:t>The authoring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188720" cy="38100"/>
          </a:xfrm>
          <a:prstGeom prst="rect">
            <a:avLst/>
          </a:prstGeom>
          <a:solidFill>
            <a:srgbClr val="4B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881360" cy="749808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73736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3736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D85C11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71907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B3A"/>
                </a:solidFill>
                <a:latin typeface="Segoe UI"/>
              </a:rPr>
              <a:t>Studio → “+ New book”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2996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Add a title and paste your Table of Contents — or “Load from a Markdown file”, or download a blank template.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68880"/>
            <a:ext cx="10881360" cy="749808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260604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60604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D85C11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58775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B3A"/>
                </a:solidFill>
                <a:latin typeface="Segoe UI"/>
              </a:rPr>
              <a:t>Tap “Structure →”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89864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The AI turns your outline into an editable topic tree. (Needs your saved API key.)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37560"/>
            <a:ext cx="10881360" cy="749808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347472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47472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D85C11"/>
                </a:solidFill>
                <a:latin typeface="Segoe UI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5643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B3A"/>
                </a:solidFill>
                <a:latin typeface="Segoe UI"/>
              </a:rPr>
              <a:t>Review in the Book Editor → “Save book”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76732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Adjust title, description, tags, and the topic tree.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06240"/>
            <a:ext cx="10881360" cy="749808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" y="434340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3434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D85C11"/>
                </a:solidFill>
                <a:latin typeface="Segoe UI Semibold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32511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B3A"/>
                </a:solidFill>
                <a:latin typeface="Segoe UI"/>
              </a:rPr>
              <a:t>“Generate all topics →”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3600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On the Generate screen, tap “Generate all topics”. One topic at a time — watch ○ → ✓.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074920"/>
            <a:ext cx="10881360" cy="749808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21208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21208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D85C11"/>
                </a:solidFill>
                <a:latin typeface="Segoe UI Semibold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19379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B3A"/>
                </a:solidFill>
                <a:latin typeface="Segoe UI"/>
              </a:rPr>
              <a:t>“Save to Library (EPUB3)”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504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Compile the generated topics into an EPUB3 and add it to your Library.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B5170"/>
                </a:solidFill>
                <a:latin typeface="Segoe UI"/>
              </a:rPr>
              <a:t>Mentible</a:t>
            </a:r>
            <a:r>
              <a:rPr sz="900" b="0">
                <a:solidFill>
                  <a:srgbClr val="9095B0"/>
                </a:solidFill>
                <a:latin typeface="Segoe UI"/>
              </a:rPr>
              <a:t> · New User Guide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095B0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85C11"/>
                </a:solidFill>
                <a:latin typeface="Segoe UI"/>
              </a:rPr>
              <a:t>SECTION 4 · COMPILE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A1B3A"/>
                </a:solidFill>
                <a:latin typeface="Segoe UI Semibold"/>
              </a:rPr>
              <a:t>Start a book — Studio and the New Book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188720" cy="38100"/>
          </a:xfrm>
          <a:prstGeom prst="rect">
            <a:avLst/>
          </a:prstGeom>
          <a:solidFill>
            <a:srgbClr val="4B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-253517" y="1636776"/>
            <a:ext cx="6724954" cy="4270248"/>
          </a:xfrm>
          <a:prstGeom prst="roundRect">
            <a:avLst>
              <a:gd name="adj" fmla="val 5000"/>
            </a:avLst>
          </a:prstGeom>
          <a:solidFill>
            <a:srgbClr val="D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u_new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8653" y="1691640"/>
            <a:ext cx="6615227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232883" y="1636776"/>
            <a:ext cx="6724954" cy="4270248"/>
          </a:xfrm>
          <a:prstGeom prst="roundRect">
            <a:avLst>
              <a:gd name="adj" fmla="val 5000"/>
            </a:avLst>
          </a:prstGeom>
          <a:solidFill>
            <a:srgbClr val="D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u_stud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747" y="1691640"/>
            <a:ext cx="6615227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9893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“+ New book” — paste your Table of Contents, then Structure.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9893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Studio lists your books; a finished one shows its contents.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B5170"/>
                </a:solidFill>
                <a:latin typeface="Segoe UI"/>
              </a:rPr>
              <a:t>Mentible</a:t>
            </a:r>
            <a:r>
              <a:rPr sz="900" b="0">
                <a:solidFill>
                  <a:srgbClr val="9095B0"/>
                </a:solidFill>
                <a:latin typeface="Segoe UI"/>
              </a:rPr>
              <a:t> · New User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095B0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85C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3657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DDE1F2"/>
                </a:solidFill>
                <a:latin typeface="Segoe UI Semibol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822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D85C11"/>
                </a:solidFill>
                <a:latin typeface="Segoe UI"/>
              </a:rPr>
              <a:t>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788920"/>
            <a:ext cx="50800" cy="1554480"/>
          </a:xfrm>
          <a:prstGeom prst="rect">
            <a:avLst/>
          </a:prstGeom>
          <a:solidFill>
            <a:srgbClr val="D85C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274320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A1B3A"/>
                </a:solidFill>
                <a:latin typeface="Segoe UI Semibold"/>
              </a:rPr>
              <a:t>Edit your 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379476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4B5170"/>
                </a:solidFill>
                <a:latin typeface="Segoe UI"/>
              </a:rPr>
              <a:t>Refine the structure and content until it's right.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B5170"/>
                </a:solidFill>
                <a:latin typeface="Segoe UI"/>
              </a:rPr>
              <a:t>Mentible</a:t>
            </a:r>
            <a:r>
              <a:rPr sz="900" b="0">
                <a:solidFill>
                  <a:srgbClr val="9095B0"/>
                </a:solidFill>
                <a:latin typeface="Segoe UI"/>
              </a:rPr>
              <a:t> · New User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095B0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85C11"/>
                </a:solidFill>
                <a:latin typeface="Segoe UI"/>
              </a:rPr>
              <a:t>SECTION 5 ·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A1B3A"/>
                </a:solidFill>
                <a:latin typeface="Segoe UI Semibold"/>
              </a:rPr>
              <a:t>Four ways to refine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188720" cy="38100"/>
          </a:xfrm>
          <a:prstGeom prst="rect">
            <a:avLst/>
          </a:prstGeom>
          <a:solidFill>
            <a:srgbClr val="4B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349240" cy="155448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D85C11"/>
                </a:solidFill>
                <a:latin typeface="Segoe UI"/>
              </a:rPr>
              <a:t>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883664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1A1B3A"/>
                </a:solidFill>
                <a:latin typeface="Segoe UI"/>
              </a:rPr>
              <a:t>Structure &amp;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304288"/>
            <a:ext cx="4069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B5170"/>
                </a:solidFill>
                <a:latin typeface="Segoe UI"/>
              </a:rPr>
              <a:t>Re-open → Book Editor. Add, remove, reorder subjects, topics, subtopics; edit title, description, tags.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349240" cy="155448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4708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D85C11"/>
                </a:solidFill>
                <a:latin typeface="Segoe UI"/>
              </a:rPr>
              <a:t>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883664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1A1B3A"/>
                </a:solidFill>
                <a:latin typeface="Segoe UI"/>
              </a:rPr>
              <a:t>Refine one topic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304288"/>
            <a:ext cx="4069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B5170"/>
                </a:solidFill>
                <a:latin typeface="Segoe UI"/>
              </a:rPr>
              <a:t>Open a topic → “Regenerate”. Add “Enhancement instructions” — they stick for every future regenerate.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5349240" cy="155448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7588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D85C11"/>
                </a:solidFill>
                <a:latin typeface="Segoe UI"/>
              </a:rPr>
              <a:t>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712464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1A1B3A"/>
                </a:solidFill>
                <a:latin typeface="Segoe UI"/>
              </a:rPr>
              <a:t>Add figures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133088"/>
            <a:ext cx="4069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B5170"/>
                </a:solidFill>
                <a:latin typeface="Segoe UI"/>
              </a:rPr>
              <a:t>“Add figure” → choose from library or take a photo, then add Caption + Alt text. Figures stay on your device.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474720"/>
            <a:ext cx="5349240" cy="155448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67588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D85C11"/>
                </a:solidFill>
                <a:latin typeface="Segoe UI"/>
              </a:rPr>
              <a:t>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712464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1A1B3A"/>
                </a:solidFill>
                <a:latin typeface="Segoe UI"/>
              </a:rPr>
              <a:t>Get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133088"/>
            <a:ext cx="4069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B5170"/>
                </a:solidFill>
                <a:latin typeface="Segoe UI"/>
              </a:rPr>
              <a:t>“Share draft” invites reviewers by email to comment before you publish.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B5170"/>
                </a:solidFill>
                <a:latin typeface="Segoe UI"/>
              </a:rPr>
              <a:t>Mentible</a:t>
            </a:r>
            <a:r>
              <a:rPr sz="900" b="0">
                <a:solidFill>
                  <a:srgbClr val="9095B0"/>
                </a:solidFill>
                <a:latin typeface="Segoe UI"/>
              </a:rPr>
              <a:t> · New User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095B0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85C11"/>
                </a:solidFill>
                <a:latin typeface="Segoe UI"/>
              </a:rPr>
              <a:t>SECTION 5 ·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A1B3A"/>
                </a:solidFill>
                <a:latin typeface="Segoe UI Semibold"/>
              </a:rPr>
              <a:t>The Book Editor and a topic — from the live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188720" cy="38100"/>
          </a:xfrm>
          <a:prstGeom prst="rect">
            <a:avLst/>
          </a:prstGeom>
          <a:solidFill>
            <a:srgbClr val="4B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66622" y="1636776"/>
            <a:ext cx="4067556" cy="4590288"/>
          </a:xfrm>
          <a:prstGeom prst="roundRect">
            <a:avLst>
              <a:gd name="adj" fmla="val 5000"/>
            </a:avLst>
          </a:prstGeom>
          <a:solidFill>
            <a:srgbClr val="D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u_ed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486" y="1691640"/>
            <a:ext cx="3957828" cy="4480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40959" y="2093976"/>
            <a:ext cx="4983122" cy="3538728"/>
          </a:xfrm>
          <a:prstGeom prst="roundRect">
            <a:avLst>
              <a:gd name="adj" fmla="val 5000"/>
            </a:avLst>
          </a:prstGeom>
          <a:solidFill>
            <a:srgbClr val="D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u_top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823" y="2148840"/>
            <a:ext cx="4873394" cy="3429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63550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Editable topic tree: subjects → topics → subtopics.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63550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A topic: “Regenerate”, “Add figure”, generated content.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B5170"/>
                </a:solidFill>
                <a:latin typeface="Segoe UI"/>
              </a:rPr>
              <a:t>Mentible</a:t>
            </a:r>
            <a:r>
              <a:rPr sz="900" b="0">
                <a:solidFill>
                  <a:srgbClr val="9095B0"/>
                </a:solidFill>
                <a:latin typeface="Segoe UI"/>
              </a:rPr>
              <a:t> · New User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095B0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85C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3657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DDE1F2"/>
                </a:solidFill>
                <a:latin typeface="Segoe UI Semibold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822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D85C11"/>
                </a:solidFill>
                <a:latin typeface="Segoe UI"/>
              </a:rPr>
              <a:t>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788920"/>
            <a:ext cx="50800" cy="1554480"/>
          </a:xfrm>
          <a:prstGeom prst="rect">
            <a:avLst/>
          </a:prstGeom>
          <a:solidFill>
            <a:srgbClr val="D85C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274320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A1B3A"/>
                </a:solidFill>
                <a:latin typeface="Segoe UI Semibold"/>
              </a:rPr>
              <a:t>Publish your release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379476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4B5170"/>
                </a:solidFill>
                <a:latin typeface="Segoe UI"/>
              </a:rPr>
              <a:t>Keep it private, or share it with every reader.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B5170"/>
                </a:solidFill>
                <a:latin typeface="Segoe UI"/>
              </a:rPr>
              <a:t>Mentible</a:t>
            </a:r>
            <a:r>
              <a:rPr sz="900" b="0">
                <a:solidFill>
                  <a:srgbClr val="9095B0"/>
                </a:solidFill>
                <a:latin typeface="Segoe UI"/>
              </a:rPr>
              <a:t> · New User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095B0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85C11"/>
                </a:solidFill>
                <a:latin typeface="Segoe UI"/>
              </a:rPr>
              <a:t>SECTION 6 · PUBLISH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A1B3A"/>
                </a:solidFill>
                <a:latin typeface="Segoe UI Semibold"/>
              </a:rPr>
              <a:t>Two ways to finish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188720" cy="38100"/>
          </a:xfrm>
          <a:prstGeom prst="rect">
            <a:avLst/>
          </a:prstGeom>
          <a:solidFill>
            <a:srgbClr val="4B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349240" cy="155448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D85C11"/>
                </a:solidFill>
                <a:latin typeface="Segoe UI"/>
              </a:rPr>
              <a:t>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883664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1A1B3A"/>
                </a:solidFill>
                <a:latin typeface="Segoe UI"/>
              </a:rPr>
              <a:t>Save to Library (EPUB3)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304288"/>
            <a:ext cx="4069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B5170"/>
                </a:solidFill>
                <a:latin typeface="Segoe UI"/>
              </a:rPr>
              <a:t>The everyday “finish &amp; keep”. Compiles your book privately and adds it to your own Library.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349240" cy="155448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4708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D85C11"/>
                </a:solidFill>
                <a:latin typeface="Segoe UI"/>
              </a:rP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883664"/>
            <a:ext cx="4069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1A1B3A"/>
                </a:solidFill>
                <a:latin typeface="Segoe UI"/>
              </a:rPr>
              <a:t>Publish to Library (EPUB + PDF)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304288"/>
            <a:ext cx="4069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B5170"/>
                </a:solidFill>
                <a:latin typeface="Segoe UI"/>
              </a:rPr>
              <a:t>Shares to the open Library so any reader can download it. Signed-in authors only; compiles EPUB + PDF.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20440"/>
            <a:ext cx="10881360" cy="73152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64845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64845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D85C11"/>
                </a:solidFill>
                <a:latin typeface="Segoe UI Semibol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63931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B3A"/>
                </a:solidFill>
                <a:latin typeface="Segoe UI"/>
              </a:rPr>
              <a:t>Download anytime — “Check out”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95020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From a book's reader, Check out gives you EPUB3 (instant) or PDF (compiled on demand).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70832"/>
            <a:ext cx="10881360" cy="73152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" y="449884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49884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D85C11"/>
                </a:solidFill>
                <a:latin typeface="Segoe UI Semibold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489704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B3A"/>
                </a:solidFill>
                <a:latin typeface="Segoe UI"/>
              </a:rPr>
              <a:t>Formats today: EPUB3 + PDF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80060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Those are the release formats. (MOBI is planned for later.)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B5170"/>
                </a:solidFill>
                <a:latin typeface="Segoe UI"/>
              </a:rPr>
              <a:t>Mentible</a:t>
            </a:r>
            <a:r>
              <a:rPr sz="900" b="0">
                <a:solidFill>
                  <a:srgbClr val="9095B0"/>
                </a:solidFill>
                <a:latin typeface="Segoe UI"/>
              </a:rPr>
              <a:t> · New User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095B0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85C11"/>
                </a:solidFill>
                <a:latin typeface="Segoe UI"/>
              </a:rPr>
              <a:t>SECTION 6 · PUBLISH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A1B3A"/>
                </a:solidFill>
                <a:latin typeface="Segoe UI Semibold"/>
              </a:rPr>
              <a:t>The finish line — Save, Generate, Publish, Export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188720" cy="38100"/>
          </a:xfrm>
          <a:prstGeom prst="rect">
            <a:avLst/>
          </a:prstGeom>
          <a:solidFill>
            <a:srgbClr val="4B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91256" y="1545336"/>
            <a:ext cx="5779008" cy="2783916"/>
          </a:xfrm>
          <a:prstGeom prst="roundRect">
            <a:avLst>
              <a:gd name="adj" fmla="val 5000"/>
            </a:avLst>
          </a:prstGeom>
          <a:solidFill>
            <a:srgbClr val="D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u_publ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600200"/>
            <a:ext cx="5669280" cy="267418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235440" y="1645920"/>
            <a:ext cx="2560320" cy="105156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35440" y="1737360"/>
            <a:ext cx="50800" cy="868680"/>
          </a:xfrm>
          <a:prstGeom prst="rect">
            <a:avLst/>
          </a:prstGeom>
          <a:solidFill>
            <a:srgbClr val="4B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175564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4B3FBF"/>
                </a:solidFill>
                <a:latin typeface="Segoe UI"/>
              </a:rPr>
              <a:t>Generate all topics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2066544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4B5170"/>
                </a:solidFill>
                <a:latin typeface="Segoe UI"/>
              </a:rPr>
              <a:t>Runs one topic at a time against your key.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2880360"/>
            <a:ext cx="2560320" cy="105156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35440" y="2971800"/>
            <a:ext cx="50800" cy="868680"/>
          </a:xfrm>
          <a:prstGeom prst="rect">
            <a:avLst/>
          </a:prstGeom>
          <a:solidFill>
            <a:srgbClr val="D85C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299008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85C11"/>
                </a:solidFill>
                <a:latin typeface="Segoe UI"/>
              </a:rPr>
              <a:t>Save to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3300984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4B5170"/>
                </a:solidFill>
                <a:latin typeface="Segoe UI"/>
              </a:rPr>
              <a:t>Compiles a private EPUB3 to your Library.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4114800"/>
            <a:ext cx="2560320" cy="105156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4206240"/>
            <a:ext cx="50800" cy="868680"/>
          </a:xfrm>
          <a:prstGeom prst="rect">
            <a:avLst/>
          </a:prstGeom>
          <a:solidFill>
            <a:srgbClr val="1F8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422452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F8F5C"/>
                </a:solidFill>
                <a:latin typeface="Segoe UI"/>
              </a:rPr>
              <a:t>Publish / 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4535424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4B5170"/>
                </a:solidFill>
                <a:latin typeface="Segoe UI"/>
              </a:rPr>
              <a:t>Share EPUB+PDF to readers, or back up a .book.json.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DD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6202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4B5170"/>
                </a:solidFill>
                <a:latin typeface="Segoe UI"/>
              </a:rPr>
              <a:t>Mentible</a:t>
            </a:r>
            <a:r>
              <a:rPr sz="900" b="0">
                <a:solidFill>
                  <a:srgbClr val="9095B0"/>
                </a:solidFill>
                <a:latin typeface="Segoe UI"/>
              </a:rPr>
              <a:t> · New User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620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095B0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85C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783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A1B3A"/>
                </a:solidFill>
                <a:latin typeface="Segoe UI Semibold"/>
              </a:rPr>
              <a:t>Your six-step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542032"/>
            <a:ext cx="1371600" cy="50800"/>
          </a:xfrm>
          <a:prstGeom prst="rect">
            <a:avLst/>
          </a:prstGeom>
          <a:solidFill>
            <a:srgbClr val="D85C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D85C11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89864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B3A"/>
                </a:solidFill>
                <a:latin typeface="Segoe UI"/>
              </a:rPr>
              <a:t>Sign in &amp; add your AI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926080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B5170"/>
                </a:solidFill>
                <a:latin typeface="Segoe UI"/>
              </a:rPr>
              <a:t>read free, author with your own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4728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D85C11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46557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B3A"/>
                </a:solidFill>
                <a:latin typeface="Segoe UI"/>
              </a:rPr>
              <a:t>Tour the six tabs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3493008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B5170"/>
                </a:solidFill>
                <a:latin typeface="Segoe UI"/>
              </a:rPr>
              <a:t>Library · Shelves · Studio · Settings · Help · About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14216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D85C11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032504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B3A"/>
                </a:solidFill>
                <a:latin typeface="Segoe UI"/>
              </a:rPr>
              <a:t>Load books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4059936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B5170"/>
                </a:solidFill>
                <a:latin typeface="Segoe UI"/>
              </a:rPr>
              <a:t>download free catalogs or import an EPUB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8114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D85C11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59943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B3A"/>
                </a:solidFill>
                <a:latin typeface="Segoe UI"/>
              </a:rPr>
              <a:t>Compile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4626864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B5170"/>
                </a:solidFill>
                <a:latin typeface="Segoe UI"/>
              </a:rPr>
              <a:t>outline → Structure → Generate → Save to Library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14807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D85C11"/>
                </a:solidFill>
                <a:latin typeface="Segoe UI Semibol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16636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B3A"/>
                </a:solidFill>
                <a:latin typeface="Segoe UI"/>
              </a:rPr>
              <a:t>Edit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5193792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B5170"/>
                </a:solidFill>
                <a:latin typeface="Segoe UI"/>
              </a:rPr>
              <a:t>regenerate topics, add figures, share a draft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7150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D85C11"/>
                </a:solidFill>
                <a:latin typeface="Segoe UI Semibold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73328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B3A"/>
                </a:solidFill>
                <a:latin typeface="Segoe UI"/>
              </a:rPr>
              <a:t>Publish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5760720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B5170"/>
                </a:solidFill>
                <a:latin typeface="Segoe UI"/>
              </a:rPr>
              <a:t>keep private, or publish EPUB + PDF for readers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640080"/>
            <a:ext cx="4114800" cy="137160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A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06640" y="749808"/>
            <a:ext cx="50800" cy="1152144"/>
          </a:xfrm>
          <a:prstGeom prst="rect">
            <a:avLst/>
          </a:prstGeom>
          <a:solidFill>
            <a:srgbClr val="4B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80" y="786384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4B3FBF"/>
                </a:solidFill>
                <a:latin typeface="Segoe UI"/>
              </a:rPr>
              <a:t>Stuck? Open Help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80" y="1115568"/>
            <a:ext cx="3566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4B5170"/>
                </a:solidFill>
                <a:latin typeface="Segoe UI"/>
              </a:rPr>
              <a:t>The Help tab has searchable guides, and “?” buttons across the app jump right to the relevant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